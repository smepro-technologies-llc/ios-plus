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3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2C5AA0"/>
            </a:solidFill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  <a:fld id="{AC7C350F-D772-4698-A38F-F82704265B6F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57A-4015-B8F6-695781925C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  <a:fld id="{A399002E-072C-41E6-9C6A-F61A9C07DA62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57A-4015-B8F6-695781925C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  <a:fld id="{BCAD4F16-FF09-4E5A-857D-A691905B87A3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557A-4015-B8F6-695781925C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1</a:t>
                    </a:r>
                    <a:fld id="{6B5A3D47-2393-4892-928A-0EE6B9E07084}" type="VALUE">
                      <a:rPr lang="en-US" smtClean="0"/>
                      <a:pPr/>
                      <a:t>[VALUE]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57A-4015-B8F6-695781925C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60">
                    <a:latin typeface="Calibri"/>
                    <a:ea typeface="Mi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84</c:v>
                </c:pt>
                <c:pt idx="2">
                  <c:v>84</c:v>
                </c:pt>
                <c:pt idx="3">
                  <c:v>84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7A-4015-B8F6-695781925C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 ($K)</c:v>
                </c:pt>
              </c:strCache>
            </c:strRef>
          </c:tx>
          <c:spPr>
            <a:solidFill>
              <a:srgbClr val="2E7D3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60">
                    <a:latin typeface="Calibri"/>
                    <a:ea typeface="Mi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480</c:v>
                </c:pt>
                <c:pt idx="1">
                  <c:v>850</c:v>
                </c:pt>
                <c:pt idx="2">
                  <c:v>950</c:v>
                </c:pt>
                <c:pt idx="3">
                  <c:v>1050</c:v>
                </c:pt>
                <c:pt idx="4">
                  <c:v>1150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7A-4015-B8F6-695781925C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48">
                <a:solidFill>
                  <a:srgbClr val="54555A"/>
                </a:solidFill>
                <a:latin typeface="Calibri"/>
                <a:ea typeface="MiSa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F0F0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zh-CN" sz="748">
                    <a:solidFill>
                      <a:srgbClr val="54555A"/>
                    </a:solidFill>
                    <a:latin typeface="Calibri"/>
                    <a:ea typeface="MiSans"/>
                  </a:rPr>
                  <a:t>Amount ($K)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748">
                <a:solidFill>
                  <a:srgbClr val="54555A"/>
                </a:solidFill>
                <a:latin typeface="Calibri"/>
                <a:ea typeface="MiSan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748">
              <a:solidFill>
                <a:srgbClr val="6D6E73"/>
              </a:solidFill>
              <a:latin typeface="Calibri"/>
              <a:ea typeface="MiSans"/>
            </a:defRPr>
          </a:pPr>
          <a:endParaRPr lang="en-US"/>
        </a:p>
      </c:txPr>
    </c:legend>
    <c:plotVisOnly val="1"/>
    <c:dispBlanksAs val="gap"/>
    <c:showDLblsOverMax val="1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07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/>
            </a:gs>
            <a:gs pos="100000">
              <a:srgbClr val="2C5AA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accent-bar"/>
          <p:cNvSpPr/>
          <p:nvPr/>
        </p:nvSpPr>
        <p:spPr>
          <a:xfrm>
            <a:off x="762000" y="762000"/>
            <a:ext cx="38100" cy="762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title|s=$title"/>
          <p:cNvSpPr txBox="1"/>
          <p:nvPr/>
        </p:nvSpPr>
        <p:spPr>
          <a:xfrm>
            <a:off x="952500" y="762000"/>
            <a:ext cx="8572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150" b="1" noProof="1">
                <a:solidFill>
                  <a:srgbClr val="FFFFFF"/>
                </a:solidFill>
                <a:latin typeface="Arial"/>
                <a:ea typeface="Calibri"/>
              </a:rPr>
              <a:t>IOS+</a:t>
            </a:r>
          </a:p>
        </p:txBody>
      </p:sp>
      <p:sp>
        <p:nvSpPr>
          <p:cNvPr id="4" name="dsl:subtitle-line1"/>
          <p:cNvSpPr txBox="1"/>
          <p:nvPr/>
        </p:nvSpPr>
        <p:spPr>
          <a:xfrm>
            <a:off x="952500" y="1714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E6F0FA"/>
                </a:solidFill>
                <a:latin typeface="Arial"/>
                <a:ea typeface="Calibri"/>
              </a:rPr>
              <a:t>Compliance-First Intelligence for Lamar University</a:t>
            </a:r>
          </a:p>
        </p:txBody>
      </p:sp>
      <p:sp>
        <p:nvSpPr>
          <p:cNvPr id="5" name="dsl:subtitle-line2"/>
          <p:cNvSpPr txBox="1"/>
          <p:nvPr/>
        </p:nvSpPr>
        <p:spPr>
          <a:xfrm>
            <a:off x="952500" y="20955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A8C5E8"/>
                </a:solidFill>
                <a:latin typeface="Arial"/>
                <a:ea typeface="Calibri"/>
              </a:rPr>
              <a:t>Protecting student data. Empowering faculty. Automating compliance.</a:t>
            </a:r>
          </a:p>
        </p:txBody>
      </p:sp>
      <p:sp>
        <p:nvSpPr>
          <p:cNvPr id="6" name="dsl:divider"/>
          <p:cNvSpPr/>
          <p:nvPr/>
        </p:nvSpPr>
        <p:spPr>
          <a:xfrm>
            <a:off x="952500" y="2667000"/>
            <a:ext cx="3810000" cy="19050"/>
          </a:xfrm>
          <a:prstGeom prst="rect">
            <a:avLst/>
          </a:prstGeom>
          <a:solidFill>
            <a:srgbClr val="4A90D9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date-label"/>
          <p:cNvSpPr txBox="1"/>
          <p:nvPr/>
        </p:nvSpPr>
        <p:spPr>
          <a:xfrm>
            <a:off x="952500" y="28575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8C5E8"/>
                </a:solidFill>
                <a:latin typeface="Arial"/>
                <a:ea typeface="Calibri"/>
              </a:rPr>
              <a:t>Faculty Presentation | January 2026</a:t>
            </a:r>
          </a:p>
        </p:txBody>
      </p:sp>
      <p:sp>
        <p:nvSpPr>
          <p:cNvPr id="8" name="dsl:sponsor-label"/>
          <p:cNvSpPr txBox="1"/>
          <p:nvPr/>
        </p:nvSpPr>
        <p:spPr>
          <a:xfrm>
            <a:off x="952500" y="6096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ADD0"/>
                </a:solidFill>
                <a:latin typeface="Arial"/>
                <a:ea typeface="Calibri"/>
              </a:rPr>
              <a:t>Proposed by SMEPro Technologies | support@smeprotech.com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What We're Solving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card1-bg"/>
          <p:cNvSpPr/>
          <p:nvPr/>
        </p:nvSpPr>
        <p:spPr>
          <a:xfrm>
            <a:off x="762000" y="104775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sl:card1-icon|i=fas:shield-halved" descr="tmp5mnjyg8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23825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card1-title"/>
          <p:cNvSpPr txBox="1"/>
          <p:nvPr/>
        </p:nvSpPr>
        <p:spPr>
          <a:xfrm>
            <a:off x="1524000" y="123825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FERPA Violations Waiting to Happen</a:t>
            </a:r>
          </a:p>
        </p:txBody>
      </p:sp>
      <p:sp>
        <p:nvSpPr>
          <p:cNvPr id="8" name="dsl:card1-body"/>
          <p:cNvSpPr txBox="1"/>
          <p:nvPr/>
        </p:nvSpPr>
        <p:spPr>
          <a:xfrm>
            <a:off x="1047750" y="166687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Faculty and staff use Microsoft Copilot, Blackboard AVA, AI Design Assistant, and Brainfuse directly against student data without centralized oversight.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1" noProof="1">
                <a:solidFill>
                  <a:srgbClr val="5A5A6A"/>
                </a:solidFill>
                <a:latin typeface="Arial"/>
                <a:ea typeface="Calibri"/>
              </a:rPr>
              <a:t>No audit trail. No policy gate. No compliance proof.</a:t>
            </a:r>
          </a:p>
        </p:txBody>
      </p:sp>
      <p:sp>
        <p:nvSpPr>
          <p:cNvPr id="9" name="dsl:card2-bg"/>
          <p:cNvSpPr/>
          <p:nvPr/>
        </p:nvSpPr>
        <p:spPr>
          <a:xfrm>
            <a:off x="6286500" y="104775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dsl:card2-icon|i=fas:database" descr="tmpgytrun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23825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card2-title"/>
          <p:cNvSpPr txBox="1"/>
          <p:nvPr/>
        </p:nvSpPr>
        <p:spPr>
          <a:xfrm>
            <a:off x="7048500" y="123825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Data Scattered Across Systems</a:t>
            </a:r>
          </a:p>
        </p:txBody>
      </p:sp>
      <p:sp>
        <p:nvSpPr>
          <p:cNvPr id="12" name="dsl:card2-body"/>
          <p:cNvSpPr txBox="1"/>
          <p:nvPr/>
        </p:nvSpPr>
        <p:spPr>
          <a:xfrm>
            <a:off x="6572250" y="166687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Banner, Blackboard, and Concourse each hold critical data. Reconciling them requires manual ad hoc pulls. By the time risk is identified, the intervention window has closed.</a:t>
            </a:r>
          </a:p>
        </p:txBody>
      </p:sp>
      <p:sp>
        <p:nvSpPr>
          <p:cNvPr id="13" name="dsl:card3-bg"/>
          <p:cNvSpPr/>
          <p:nvPr/>
        </p:nvSpPr>
        <p:spPr>
          <a:xfrm>
            <a:off x="762000" y="361950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dsl:card3-icon|i=fas:clipboard-check" descr="tmpjj1rqf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card3-title"/>
          <p:cNvSpPr txBox="1"/>
          <p:nvPr/>
        </p:nvSpPr>
        <p:spPr>
          <a:xfrm>
            <a:off x="15240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Accreditation Scramble</a:t>
            </a:r>
          </a:p>
        </p:txBody>
      </p:sp>
      <p:sp>
        <p:nvSpPr>
          <p:cNvPr id="16" name="dsl:card3-body"/>
          <p:cNvSpPr txBox="1"/>
          <p:nvPr/>
        </p:nvSpPr>
        <p:spPr>
          <a:xfrm>
            <a:off x="1047750" y="423862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SACSCOC, ABET, and AACSB documentation is assembled from dozens of disjointed databases close to review deadlines. The "deadline scramble" guarantees critical gaps are discovered during review.</a:t>
            </a:r>
          </a:p>
        </p:txBody>
      </p:sp>
      <p:sp>
        <p:nvSpPr>
          <p:cNvPr id="17" name="dsl:card4-bg"/>
          <p:cNvSpPr/>
          <p:nvPr/>
        </p:nvSpPr>
        <p:spPr>
          <a:xfrm>
            <a:off x="6286500" y="3619500"/>
            <a:ext cx="514350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dsl:card4-icon|i=fas:chalkboard-user" descr="tmpdsa_ee0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card4-title"/>
          <p:cNvSpPr txBox="1"/>
          <p:nvPr/>
        </p:nvSpPr>
        <p:spPr>
          <a:xfrm>
            <a:off x="70485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Instructional Drift</a:t>
            </a:r>
          </a:p>
        </p:txBody>
      </p:sp>
      <p:sp>
        <p:nvSpPr>
          <p:cNvPr id="20" name="dsl:card4-body"/>
          <p:cNvSpPr txBox="1"/>
          <p:nvPr/>
        </p:nvSpPr>
        <p:spPr>
          <a:xfrm>
            <a:off x="6572250" y="4238625"/>
            <a:ext cx="4667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Approved course-level outcomes live in Concourse while actual assessments reside in Blackboard. Reconciling the two is done by hand, if at all, allowing a course to drift from what it was approved to teach.</a:t>
            </a:r>
          </a:p>
        </p:txBody>
      </p:sp>
      <p:sp>
        <p:nvSpPr>
          <p:cNvPr id="21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What IOS+ Is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5AA0"/>
                </a:solidFill>
                <a:latin typeface="Arial"/>
                <a:ea typeface="Calibri"/>
              </a:rPr>
              <a:t>A Secure Middleware Gateway — Not a Replacement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334000" cy="409575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How It Works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47625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IOS+ sits between your existing tools and student data.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You keep using Banner, Blackboard, and Concourse exactly as you do today. IOS+ adds an invisible layer of: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Policy enforcement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who can access what data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Audit immutability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every action is logged and signed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Compliance proof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evidence for regulators, accreditors, and auditors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Your tools become compliant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by construction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, not by policy memo.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477000" y="1524000"/>
            <a:ext cx="4953000" cy="409575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sl:right-label"/>
          <p:cNvSpPr txBox="1"/>
          <p:nvPr/>
        </p:nvSpPr>
        <p:spPr>
          <a:xfrm>
            <a:off x="6762750" y="1714500"/>
            <a:ext cx="438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5AA0"/>
                </a:solidFill>
                <a:latin typeface="Arial"/>
                <a:ea typeface="Calibri"/>
              </a:rPr>
              <a:t>What You Keep</a:t>
            </a:r>
          </a:p>
        </p:txBody>
      </p:sp>
      <p:sp>
        <p:nvSpPr>
          <p:cNvPr id="11" name="dsl:right-content"/>
          <p:cNvSpPr txBox="1"/>
          <p:nvPr/>
        </p:nvSpPr>
        <p:spPr>
          <a:xfrm>
            <a:off x="6762750" y="2095500"/>
            <a:ext cx="43815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Banner workflows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Blackboard gradebook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Concourse syllabi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• Same Microsoft Copilot access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IOS+ does not replace your tools. It </a:t>
            </a:r>
            <a:r>
              <a:rPr sz="1125" b="1" noProof="1">
                <a:solidFill>
                  <a:srgbClr val="1A1A2E"/>
                </a:solidFill>
                <a:latin typeface="Arial"/>
                <a:ea typeface="Calibri"/>
              </a:rPr>
              <a:t>governs</a:t>
            </a: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 them.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b="1" noProof="1">
                <a:solidFill>
                  <a:srgbClr val="1A1A2E"/>
                </a:solidFill>
                <a:latin typeface="Arial"/>
                <a:ea typeface="Calibri"/>
              </a:rPr>
              <a:t>Data never leaves campus.</a:t>
            </a:r>
            <a:r>
              <a:rPr sz="1125" noProof="1">
                <a:solidFill>
                  <a:srgbClr val="1A1A2E"/>
                </a:solidFill>
                <a:latin typeface="Arial"/>
                <a:ea typeface="Calibri"/>
              </a:rPr>
              <a:t> All PII is pseudonymized before any external tool sees it.</a:t>
            </a:r>
          </a:p>
        </p:txBody>
      </p:sp>
      <p:sp>
        <p:nvSpPr>
          <p:cNvPr id="12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How IOS+ Protects You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Four sequential gates every request must pass</a:t>
            </a:r>
          </a:p>
        </p:txBody>
      </p:sp>
      <p:sp>
        <p:nvSpPr>
          <p:cNvPr id="6" name="dsl:gate1-bg"/>
          <p:cNvSpPr/>
          <p:nvPr/>
        </p:nvSpPr>
        <p:spPr>
          <a:xfrm>
            <a:off x="762000" y="1524000"/>
            <a:ext cx="2571750" cy="419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sl:gate1-icon|i=fas:user-shield" descr="tmpc96kv6z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gate1-num"/>
          <p:cNvSpPr txBox="1"/>
          <p:nvPr/>
        </p:nvSpPr>
        <p:spPr>
          <a:xfrm>
            <a:off x="762000" y="23812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b="1" noProof="1">
                <a:solidFill>
                  <a:srgbClr val="2C5AA0"/>
                </a:solidFill>
                <a:latin typeface="Arial"/>
                <a:ea typeface="Calibri"/>
              </a:rPr>
              <a:t>GATE 1</a:t>
            </a:r>
          </a:p>
        </p:txBody>
      </p:sp>
      <p:sp>
        <p:nvSpPr>
          <p:cNvPr id="9" name="dsl:gate1-title"/>
          <p:cNvSpPr txBox="1"/>
          <p:nvPr/>
        </p:nvSpPr>
        <p:spPr>
          <a:xfrm>
            <a:off x="952500" y="2714625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Identity Confirmed</a:t>
            </a:r>
          </a:p>
        </p:txBody>
      </p:sp>
      <p:sp>
        <p:nvSpPr>
          <p:cNvPr id="10" name="dsl:gate1-body"/>
          <p:cNvSpPr txBox="1"/>
          <p:nvPr/>
        </p:nvSpPr>
        <p:spPr>
          <a:xfrm>
            <a:off x="952500" y="3095625"/>
            <a:ext cx="2190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SSO authentication verifies who you are. Your role determines what data you can access.</a:t>
            </a:r>
          </a:p>
        </p:txBody>
      </p:sp>
      <p:cxnSp>
        <p:nvCxnSpPr>
          <p:cNvPr id="11" name="dsl:arrow1"/>
          <p:cNvCxnSpPr/>
          <p:nvPr/>
        </p:nvCxnSpPr>
        <p:spPr>
          <a:xfrm>
            <a:off x="3429000" y="3333750"/>
            <a:ext cx="381000" cy="0"/>
          </a:xfrm>
          <a:prstGeom prst="straightConnector1">
            <a:avLst/>
          </a:prstGeom>
          <a:ln w="25400">
            <a:solidFill>
              <a:srgbClr val="2C5AA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gate2-bg"/>
          <p:cNvSpPr/>
          <p:nvPr/>
        </p:nvSpPr>
        <p:spPr>
          <a:xfrm>
            <a:off x="3905250" y="1524000"/>
            <a:ext cx="2571750" cy="419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dsl:gate2-icon|i=fas:mask" descr="tmpc96kv6z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gate2-num"/>
          <p:cNvSpPr txBox="1"/>
          <p:nvPr/>
        </p:nvSpPr>
        <p:spPr>
          <a:xfrm>
            <a:off x="3905250" y="23812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b="1" noProof="1">
                <a:solidFill>
                  <a:srgbClr val="2C5AA0"/>
                </a:solidFill>
                <a:latin typeface="Arial"/>
                <a:ea typeface="Calibri"/>
              </a:rPr>
              <a:t>GATE 2</a:t>
            </a:r>
          </a:p>
        </p:txBody>
      </p:sp>
      <p:sp>
        <p:nvSpPr>
          <p:cNvPr id="15" name="dsl:gate2-title"/>
          <p:cNvSpPr txBox="1"/>
          <p:nvPr/>
        </p:nvSpPr>
        <p:spPr>
          <a:xfrm>
            <a:off x="4095750" y="2714625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Data Classified</a:t>
            </a:r>
          </a:p>
        </p:txBody>
      </p:sp>
      <p:sp>
        <p:nvSpPr>
          <p:cNvPr id="16" name="dsl:gate2-body"/>
          <p:cNvSpPr txBox="1"/>
          <p:nvPr/>
        </p:nvSpPr>
        <p:spPr>
          <a:xfrm>
            <a:off x="4095750" y="3095625"/>
            <a:ext cx="2190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Student PII is pseudonymized. Names, SSNs, and DOBs are replaced with synthetic IDs before any tool sees them.</a:t>
            </a:r>
          </a:p>
        </p:txBody>
      </p:sp>
      <p:cxnSp>
        <p:nvCxnSpPr>
          <p:cNvPr id="17" name="dsl:arrow2"/>
          <p:cNvCxnSpPr/>
          <p:nvPr/>
        </p:nvCxnSpPr>
        <p:spPr>
          <a:xfrm>
            <a:off x="6572250" y="3333750"/>
            <a:ext cx="381000" cy="0"/>
          </a:xfrm>
          <a:prstGeom prst="straightConnector1">
            <a:avLst/>
          </a:prstGeom>
          <a:ln w="25400">
            <a:solidFill>
              <a:srgbClr val="2C5AA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gate3-bg"/>
          <p:cNvSpPr/>
          <p:nvPr/>
        </p:nvSpPr>
        <p:spPr>
          <a:xfrm>
            <a:off x="7048500" y="1524000"/>
            <a:ext cx="2571750" cy="419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dsl:gate3-icon|i=fas:scale-balanced" descr="tmpc96kv6z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gate3-num"/>
          <p:cNvSpPr txBox="1"/>
          <p:nvPr/>
        </p:nvSpPr>
        <p:spPr>
          <a:xfrm>
            <a:off x="7048500" y="23812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b="1" noProof="1">
                <a:solidFill>
                  <a:srgbClr val="2C5AA0"/>
                </a:solidFill>
                <a:latin typeface="Arial"/>
                <a:ea typeface="Calibri"/>
              </a:rPr>
              <a:t>GATE 3</a:t>
            </a:r>
          </a:p>
        </p:txBody>
      </p:sp>
      <p:sp>
        <p:nvSpPr>
          <p:cNvPr id="21" name="dsl:gate3-title"/>
          <p:cNvSpPr txBox="1"/>
          <p:nvPr/>
        </p:nvSpPr>
        <p:spPr>
          <a:xfrm>
            <a:off x="7239000" y="2714625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Policy Enforced</a:t>
            </a:r>
          </a:p>
        </p:txBody>
      </p:sp>
      <p:sp>
        <p:nvSpPr>
          <p:cNvPr id="22" name="dsl:gate3-body"/>
          <p:cNvSpPr txBox="1"/>
          <p:nvPr/>
        </p:nvSpPr>
        <p:spPr>
          <a:xfrm>
            <a:off x="7239000" y="3095625"/>
            <a:ext cx="2190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Every request is evaluated against compliance rules. If it violates policy, it's blocked. If it's allowed, it's logged.</a:t>
            </a:r>
          </a:p>
        </p:txBody>
      </p:sp>
      <p:cxnSp>
        <p:nvCxnSpPr>
          <p:cNvPr id="23" name="dsl:arrow3"/>
          <p:cNvCxnSpPr/>
          <p:nvPr/>
        </p:nvCxnSpPr>
        <p:spPr>
          <a:xfrm>
            <a:off x="9715500" y="3333750"/>
            <a:ext cx="381000" cy="0"/>
          </a:xfrm>
          <a:prstGeom prst="straightConnector1">
            <a:avLst/>
          </a:prstGeom>
          <a:ln w="25400">
            <a:solidFill>
              <a:srgbClr val="2C5AA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gate4-bg"/>
          <p:cNvSpPr/>
          <p:nvPr/>
        </p:nvSpPr>
        <p:spPr>
          <a:xfrm>
            <a:off x="10191750" y="1524000"/>
            <a:ext cx="1238250" cy="4191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dsl:gate4-icon|i=fas:lock" descr="tmpnim195z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5" y="30480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gate4-title"/>
          <p:cNvSpPr txBox="1"/>
          <p:nvPr/>
        </p:nvSpPr>
        <p:spPr>
          <a:xfrm>
            <a:off x="10287000" y="3619500"/>
            <a:ext cx="1047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b="1" noProof="1">
                <a:solidFill>
                  <a:srgbClr val="FFFFFF"/>
                </a:solidFill>
                <a:latin typeface="Arial"/>
                <a:ea typeface="Calibri"/>
              </a:rPr>
              <a:t>Audit</a:t>
            </a:r>
          </a:p>
        </p:txBody>
      </p:sp>
      <p:sp>
        <p:nvSpPr>
          <p:cNvPr id="27" name="dsl:gate4-body"/>
          <p:cNvSpPr txBox="1"/>
          <p:nvPr/>
        </p:nvSpPr>
        <p:spPr>
          <a:xfrm>
            <a:off x="10334625" y="3952875"/>
            <a:ext cx="952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900" noProof="1">
                <a:solidFill>
                  <a:srgbClr val="FFFFFF"/>
                </a:solidFill>
                <a:latin typeface="Arial"/>
                <a:ea typeface="Calibri"/>
              </a:rPr>
              <a:t>Every action is logged with SHA-256. WORM-protected.</a:t>
            </a:r>
          </a:p>
        </p:txBody>
      </p:sp>
      <p:sp>
        <p:nvSpPr>
          <p:cNvPr id="28" name="dsl:callout-bg"/>
          <p:cNvSpPr/>
          <p:nvPr/>
        </p:nvSpPr>
        <p:spPr>
          <a:xfrm>
            <a:off x="762000" y="5905500"/>
            <a:ext cx="10668000" cy="381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sl:callout-text"/>
          <p:cNvSpPr txBox="1"/>
          <p:nvPr/>
        </p:nvSpPr>
        <p:spPr>
          <a:xfrm>
            <a:off x="952500" y="5905500"/>
            <a:ext cx="10287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b="1" noProof="1">
                <a:solidFill>
                  <a:srgbClr val="8D6E00"/>
                </a:solidFill>
                <a:latin typeface="Arial"/>
                <a:ea typeface="Calibri"/>
              </a:rPr>
              <a:t>AI models never see raw student data until it clears all four gates.</a:t>
            </a:r>
            <a:r>
              <a:rPr sz="1125" noProof="1">
                <a:solidFill>
                  <a:srgbClr val="8D6E00"/>
                </a:solidFill>
                <a:latin typeface="Arial"/>
                <a:ea typeface="Calibri"/>
              </a:rPr>
              <a:t> You remain in control.</a:t>
            </a:r>
          </a:p>
        </p:txBody>
      </p:sp>
      <p:sp>
        <p:nvSpPr>
          <p:cNvPr id="30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UC-01: Predictive Persistence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Early Warning: Catch At-Risk Students Before They Drop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How It Works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Current state: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Early-warning signals are scattered across Banner and Blackboard, reachable only by manual ad hoc pulls. By the time risk is identified, the intervention window has closed.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With IOS+: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Academic, support, and engagement signals are drawn into a single governed view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Translated into a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prioritized, advisor-ready intervention list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Refreshed on a regular cadence while there is still time to act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Advisors work directly from a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ranked outreach queue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not from spreadsheets, not from memory.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dsl:right-icon|i=fas:chart-line" descr="tmp82cv6t9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E7D32"/>
                </a:solidFill>
                <a:latin typeface="Arial"/>
                <a:ea typeface="Calibri"/>
              </a:rPr>
              <a:t>Business Value</a:t>
            </a:r>
          </a:p>
        </p:txBody>
      </p:sp>
      <p:sp>
        <p:nvSpPr>
          <p:cNvPr id="12" name="dsl:right-metric"/>
          <p:cNvSpPr txBox="1"/>
          <p:nvPr/>
        </p:nvSpPr>
        <p:spPr>
          <a:xfrm>
            <a:off x="7239000" y="2381250"/>
            <a:ext cx="3905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2E7D32"/>
                </a:solidFill>
                <a:latin typeface="Arial"/>
                <a:ea typeface="Calibri"/>
              </a:rPr>
              <a:t>5–10%</a:t>
            </a:r>
          </a:p>
        </p:txBody>
      </p:sp>
      <p:sp>
        <p:nvSpPr>
          <p:cNvPr id="13" name="dsl:right-metric-label"/>
          <p:cNvSpPr txBox="1"/>
          <p:nvPr/>
        </p:nvSpPr>
        <p:spPr>
          <a:xfrm>
            <a:off x="7239000" y="2952750"/>
            <a:ext cx="3905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Reduction in first-year attrition</a:t>
            </a:r>
          </a:p>
        </p:txBody>
      </p:sp>
      <p:sp>
        <p:nvSpPr>
          <p:cNvPr id="14" name="dsl:right-divider"/>
          <p:cNvSpPr/>
          <p:nvPr/>
        </p:nvSpPr>
        <p:spPr>
          <a:xfrm>
            <a:off x="7239000" y="3333750"/>
            <a:ext cx="3619500" cy="9525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sl:right-value"/>
          <p:cNvSpPr txBox="1"/>
          <p:nvPr/>
        </p:nvSpPr>
        <p:spPr>
          <a:xfrm>
            <a:off x="7239000" y="3524250"/>
            <a:ext cx="3905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2E7D32"/>
                </a:solidFill>
                <a:latin typeface="Arial"/>
                <a:ea typeface="Calibri"/>
              </a:rPr>
              <a:t>$150K–$300K</a:t>
            </a:r>
          </a:p>
        </p:txBody>
      </p:sp>
      <p:sp>
        <p:nvSpPr>
          <p:cNvPr id="16" name="dsl:right-value-label"/>
          <p:cNvSpPr txBox="1"/>
          <p:nvPr/>
        </p:nvSpPr>
        <p:spPr>
          <a:xfrm>
            <a:off x="7239000" y="4095750"/>
            <a:ext cx="3905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Annual retained tuition revenue</a:t>
            </a:r>
          </a:p>
        </p:txBody>
      </p:sp>
      <p:sp>
        <p:nvSpPr>
          <p:cNvPr id="17" name="dsl:right-note"/>
          <p:cNvSpPr txBox="1"/>
          <p:nvPr/>
        </p:nvSpPr>
        <p:spPr>
          <a:xfrm>
            <a:off x="7239000" y="4572000"/>
            <a:ext cx="39052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5A5A6A"/>
                </a:solidFill>
                <a:latin typeface="Arial"/>
                <a:ea typeface="Calibri"/>
              </a:rPr>
              <a:t>First-year and transfer students show the highest attrition during the critical first six weeks. IOS+ surfaces risk signals before the window closes.</a:t>
            </a:r>
          </a:p>
        </p:txBody>
      </p:sp>
      <p:sp>
        <p:nvSpPr>
          <p:cNvPr id="18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UC-02: Transcript Evaluation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From 2 Weeks to 2 Days</a:t>
            </a:r>
          </a:p>
        </p:txBody>
      </p:sp>
      <p:sp>
        <p:nvSpPr>
          <p:cNvPr id="6" name="dsl:before-label"/>
          <p:cNvSpPr txBox="1"/>
          <p:nvPr/>
        </p:nvSpPr>
        <p:spPr>
          <a:xfrm>
            <a:off x="762000" y="1524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E65100"/>
                </a:solidFill>
                <a:latin typeface="Arial"/>
                <a:ea typeface="Calibri"/>
              </a:rPr>
              <a:t>BEFORE IOS+</a:t>
            </a:r>
          </a:p>
        </p:txBody>
      </p:sp>
      <p:sp>
        <p:nvSpPr>
          <p:cNvPr id="7" name="dsl:before-bg"/>
          <p:cNvSpPr/>
          <p:nvPr/>
        </p:nvSpPr>
        <p:spPr>
          <a:xfrm>
            <a:off x="762000" y="1857375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sl:before-content"/>
          <p:cNvSpPr txBox="1"/>
          <p:nvPr/>
        </p:nvSpPr>
        <p:spPr>
          <a:xfrm>
            <a:off x="1047750" y="2047875"/>
            <a:ext cx="4572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Incoming transcripts traverse multiple systems and legacy databases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Manual, fragmented process with slow turnaround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Inconsistent records across evaluators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Average turnaround: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2 weeks</a:t>
            </a:r>
          </a:p>
        </p:txBody>
      </p:sp>
      <p:sp>
        <p:nvSpPr>
          <p:cNvPr id="9" name="dsl:after-label"/>
          <p:cNvSpPr txBox="1"/>
          <p:nvPr/>
        </p:nvSpPr>
        <p:spPr>
          <a:xfrm>
            <a:off x="6286500" y="1524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E7D32"/>
                </a:solidFill>
                <a:latin typeface="Arial"/>
                <a:ea typeface="Calibri"/>
              </a:rPr>
              <a:t>WITH IOS+</a:t>
            </a:r>
          </a:p>
        </p:txBody>
      </p:sp>
      <p:sp>
        <p:nvSpPr>
          <p:cNvPr id="10" name="dsl:after-bg"/>
          <p:cNvSpPr/>
          <p:nvPr/>
        </p:nvSpPr>
        <p:spPr>
          <a:xfrm>
            <a:off x="6286500" y="1857375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sl:after-content"/>
          <p:cNvSpPr txBox="1"/>
          <p:nvPr/>
        </p:nvSpPr>
        <p:spPr>
          <a:xfrm>
            <a:off x="6572250" y="2047875"/>
            <a:ext cx="4572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Digital coursework matched against Lamar's catalog automatically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Visual confidence band for each equivalency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One-click human approval writes back to the student record instantly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Average turnaround: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2 days</a:t>
            </a:r>
          </a:p>
        </p:txBody>
      </p:sp>
      <p:sp>
        <p:nvSpPr>
          <p:cNvPr id="12" name="dsl:value-bg"/>
          <p:cNvSpPr/>
          <p:nvPr/>
        </p:nvSpPr>
        <p:spPr>
          <a:xfrm>
            <a:off x="762000" y="4095750"/>
            <a:ext cx="10668000" cy="1905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dsl:value-icon|i=fas:clock" descr="tmpal9h1d9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38150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value-title"/>
          <p:cNvSpPr txBox="1"/>
          <p:nvPr/>
        </p:nvSpPr>
        <p:spPr>
          <a:xfrm>
            <a:off x="1619250" y="4381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Every Decision Carries Traceable Evidence</a:t>
            </a:r>
          </a:p>
        </p:txBody>
      </p:sp>
      <p:sp>
        <p:nvSpPr>
          <p:cNvPr id="15" name="dsl:value-body"/>
          <p:cNvSpPr txBox="1"/>
          <p:nvPr/>
        </p:nvSpPr>
        <p:spPr>
          <a:xfrm>
            <a:off x="1047750" y="4810125"/>
            <a:ext cx="10096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Every transcript evaluation decision is logged with a confidence score, the evaluator's identity, and the catalog match criteria. If an auditor asks "why was this course accepted?" — the answer is one click away.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Faster admissions. Higher yield. Defensible decisions.</a:t>
            </a:r>
          </a:p>
        </p:txBody>
      </p:sp>
      <p:sp>
        <p:nvSpPr>
          <p:cNvPr id="16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UC-03: Accreditation Gap Analysis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Never Scramble for Accreditation Again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How It Works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Current state: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SACSCOC, ABET, and AACSB documentation is assembled from dozens of disjointed databases close to review deadlines. The "deadline scramble" guarantees critical gaps are discovered during review — the most expensive moment.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With IOS+: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Continuous, automated map of accreditation standards to evidence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Lamar's existing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414 SACSCOC files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indexed as a near-complete core evidence set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Shortfalls surface early on an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interactive Readiness Heat Map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No more deadline scramble. No more surprise gaps.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dsl:right-icon|i=fas:certificate" descr="tmpc96kv6z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5AA0"/>
                </a:solidFill>
                <a:latin typeface="Arial"/>
                <a:ea typeface="Calibri"/>
              </a:rPr>
              <a:t>Accreditors Covered</a:t>
            </a:r>
          </a:p>
        </p:txBody>
      </p:sp>
      <p:sp>
        <p:nvSpPr>
          <p:cNvPr id="12" name="dsl:right-content"/>
          <p:cNvSpPr txBox="1"/>
          <p:nvPr/>
        </p:nvSpPr>
        <p:spPr>
          <a:xfrm>
            <a:off x="7239000" y="2381250"/>
            <a:ext cx="390525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SACSCOC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Standards mapping + evidence indexing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ABET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Program outcomes tracking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AACSB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Assurance of Learning alignment</a:t>
            </a:r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Interactive Heat Map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Green = ready | Yellow = needs attention | Red = gap</a:t>
            </a:r>
          </a:p>
        </p:txBody>
      </p:sp>
      <p:sp>
        <p:nvSpPr>
          <p:cNvPr id="1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UC-04: Outcome ↔ Assessment Alignment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Stop Instructional Drift Before It Starts</a:t>
            </a:r>
          </a:p>
        </p:txBody>
      </p:sp>
      <p:sp>
        <p:nvSpPr>
          <p:cNvPr id="6" name="dsl:drift-diagram"/>
          <p:cNvSpPr/>
          <p:nvPr/>
        </p:nvSpPr>
        <p:spPr>
          <a:xfrm>
            <a:off x="762000" y="1524000"/>
            <a:ext cx="10668000" cy="17145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concourse-label"/>
          <p:cNvSpPr txBox="1"/>
          <p:nvPr/>
        </p:nvSpPr>
        <p:spPr>
          <a:xfrm>
            <a:off x="1047750" y="1714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5AA0"/>
                </a:solidFill>
                <a:latin typeface="Arial"/>
                <a:ea typeface="Calibri"/>
              </a:rPr>
              <a:t>Concourse</a:t>
            </a:r>
            <a:r>
              <a:rPr sz="1200" noProof="1">
                <a:solidFill>
                  <a:srgbClr val="2C5AA0"/>
                </a:solidFill>
                <a:latin typeface="Arial"/>
                <a:ea typeface="Calibri"/>
              </a:rPr>
              <a:t> — Syllabus of Record</a:t>
            </a:r>
          </a:p>
        </p:txBody>
      </p:sp>
      <p:sp>
        <p:nvSpPr>
          <p:cNvPr id="8" name="dsl:concourse-body"/>
          <p:cNvSpPr txBox="1"/>
          <p:nvPr/>
        </p:nvSpPr>
        <p:spPr>
          <a:xfrm>
            <a:off x="1047750" y="2047875"/>
            <a:ext cx="2857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Approved course-level outcomes (CLOs) live here. This is what the course was approved to teach.</a:t>
            </a:r>
          </a:p>
        </p:txBody>
      </p:sp>
      <p:cxnSp>
        <p:nvCxnSpPr>
          <p:cNvPr id="9" name="dsl:drift-arrow"/>
          <p:cNvCxnSpPr/>
          <p:nvPr/>
        </p:nvCxnSpPr>
        <p:spPr>
          <a:xfrm>
            <a:off x="4286250" y="2333625"/>
            <a:ext cx="1905000" cy="0"/>
          </a:xfrm>
          <a:prstGeom prst="straightConnector1">
            <a:avLst/>
          </a:prstGeom>
          <a:ln w="25400">
            <a:solidFill>
              <a:srgbClr val="E65100"/>
            </a:solidFill>
            <a:prstDash val="solid"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drift-label"/>
          <p:cNvSpPr txBox="1"/>
          <p:nvPr/>
        </p:nvSpPr>
        <p:spPr>
          <a:xfrm>
            <a:off x="4572000" y="2476500"/>
            <a:ext cx="133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b="1" noProof="1">
                <a:solidFill>
                  <a:srgbClr val="E65100"/>
                </a:solidFill>
                <a:latin typeface="Arial"/>
                <a:ea typeface="Calibri"/>
              </a:rPr>
              <a:t>DRIFT DETECTED</a:t>
            </a:r>
          </a:p>
        </p:txBody>
      </p:sp>
      <p:sp>
        <p:nvSpPr>
          <p:cNvPr id="11" name="dsl:blackboard-label"/>
          <p:cNvSpPr txBox="1"/>
          <p:nvPr/>
        </p:nvSpPr>
        <p:spPr>
          <a:xfrm>
            <a:off x="6667500" y="1714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5AA0"/>
                </a:solidFill>
                <a:latin typeface="Arial"/>
                <a:ea typeface="Calibri"/>
              </a:rPr>
              <a:t>Blackboard</a:t>
            </a:r>
            <a:r>
              <a:rPr sz="1200" noProof="1">
                <a:solidFill>
                  <a:srgbClr val="2C5AA0"/>
                </a:solidFill>
                <a:latin typeface="Arial"/>
                <a:ea typeface="Calibri"/>
              </a:rPr>
              <a:t> — Actual Assessments</a:t>
            </a:r>
          </a:p>
        </p:txBody>
      </p:sp>
      <p:sp>
        <p:nvSpPr>
          <p:cNvPr id="12" name="dsl:blackboard-body"/>
          <p:cNvSpPr txBox="1"/>
          <p:nvPr/>
        </p:nvSpPr>
        <p:spPr>
          <a:xfrm>
            <a:off x="6667500" y="2047875"/>
            <a:ext cx="2857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Actual gradebook assessments reside here. This is what the course is actually teaching.</a:t>
            </a:r>
          </a:p>
        </p:txBody>
      </p:sp>
      <p:sp>
        <p:nvSpPr>
          <p:cNvPr id="13" name="dsl:ios-fix"/>
          <p:cNvSpPr txBox="1"/>
          <p:nvPr/>
        </p:nvSpPr>
        <p:spPr>
          <a:xfrm>
            <a:off x="1047750" y="3095625"/>
            <a:ext cx="942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b="1" noProof="1">
                <a:solidFill>
                  <a:srgbClr val="2E7D32"/>
                </a:solidFill>
                <a:latin typeface="Arial"/>
                <a:ea typeface="Calibri"/>
              </a:rPr>
              <a:t>IOS+ cross-references both and flags mismatches automatically</a:t>
            </a:r>
          </a:p>
        </p:txBody>
      </p:sp>
      <p:sp>
        <p:nvSpPr>
          <p:cNvPr id="14" name="dsl:bottom-left"/>
          <p:cNvSpPr/>
          <p:nvPr/>
        </p:nvSpPr>
        <p:spPr>
          <a:xfrm>
            <a:off x="762000" y="35242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dsl:bottom-left-icon|i=fas:triangle-exclamation" descr="tmp5mnjyg8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bottom-left-title"/>
          <p:cNvSpPr txBox="1"/>
          <p:nvPr/>
        </p:nvSpPr>
        <p:spPr>
          <a:xfrm>
            <a:off x="15240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E65100"/>
                </a:solidFill>
                <a:latin typeface="Arial"/>
                <a:ea typeface="Calibri"/>
              </a:rPr>
              <a:t>Without IOS+</a:t>
            </a:r>
          </a:p>
        </p:txBody>
      </p:sp>
      <p:sp>
        <p:nvSpPr>
          <p:cNvPr id="17" name="dsl:bottom-left-body"/>
          <p:cNvSpPr txBox="1"/>
          <p:nvPr/>
        </p:nvSpPr>
        <p:spPr>
          <a:xfrm>
            <a:off x="1047750" y="4238625"/>
            <a:ext cx="466725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Reconciling CLOs and assessments is done by hand, if at all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A course can drift from what it was approved to teach for semesters before anyone notices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SACSCOC discovers the drift during review</a:t>
            </a:r>
          </a:p>
        </p:txBody>
      </p:sp>
      <p:sp>
        <p:nvSpPr>
          <p:cNvPr id="18" name="dsl:bottom-right"/>
          <p:cNvSpPr/>
          <p:nvPr/>
        </p:nvSpPr>
        <p:spPr>
          <a:xfrm>
            <a:off x="6286500" y="35242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dsl:bottom-right-icon|i=fas:check-circle" descr="tmpjj1rqf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3810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bottom-right-title"/>
          <p:cNvSpPr txBox="1"/>
          <p:nvPr/>
        </p:nvSpPr>
        <p:spPr>
          <a:xfrm>
            <a:off x="7048500" y="3810000"/>
            <a:ext cx="4095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E7D32"/>
                </a:solidFill>
                <a:latin typeface="Arial"/>
                <a:ea typeface="Calibri"/>
              </a:rPr>
              <a:t>With IOS+</a:t>
            </a:r>
          </a:p>
        </p:txBody>
      </p:sp>
      <p:sp>
        <p:nvSpPr>
          <p:cNvPr id="21" name="dsl:bottom-right-body"/>
          <p:cNvSpPr txBox="1"/>
          <p:nvPr/>
        </p:nvSpPr>
        <p:spPr>
          <a:xfrm>
            <a:off x="6572250" y="4238625"/>
            <a:ext cx="466725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Automated cross-reference between Concourse and Blackboard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Mismatches flagged instantly on a dashboard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"Instructional drift" becomes visible and correctable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• SACSCOC alignment by design, not by audit</a:t>
            </a:r>
          </a:p>
        </p:txBody>
      </p:sp>
      <p:sp>
        <p:nvSpPr>
          <p:cNvPr id="22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UC-05: Grading Load Analysis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Measure Workload, Allocate Support Fairly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The Problem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For large online courses using grader assistance, administrators have no empirical view of how much work each course carries.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Grading support is allocated by guesswork: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"This course looks heavy" — but no data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"That section needs help" — but no proof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Faculty complaints about unfair load — but no evidence to resolve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dsl:right-icon|i=fas:chart-bar" descr="tmpc96kv6z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5AA0"/>
                </a:solidFill>
                <a:latin typeface="Arial"/>
                <a:ea typeface="Calibri"/>
              </a:rPr>
              <a:t>With IOS+</a:t>
            </a:r>
          </a:p>
        </p:txBody>
      </p:sp>
      <p:sp>
        <p:nvSpPr>
          <p:cNvPr id="12" name="dsl:right-content"/>
          <p:cNvSpPr txBox="1"/>
          <p:nvPr/>
        </p:nvSpPr>
        <p:spPr>
          <a:xfrm>
            <a:off x="7239000" y="2381250"/>
            <a:ext cx="390525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Quantitative Grading Load Index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built from LMS assessment structure + Banner section data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Workloads become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measurable per course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Deans allocate support on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auditable evidence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Fairness becomes a number, not a debate</a:t>
            </a:r>
          </a:p>
        </p:txBody>
      </p:sp>
      <p:sp>
        <p:nvSpPr>
          <p:cNvPr id="1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UC-06: Allied Health Reporting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One Dashboard, Ten Programs, Zero Spreadsheets</a:t>
            </a:r>
          </a:p>
        </p:txBody>
      </p:sp>
      <p:pic>
        <p:nvPicPr>
          <p:cNvPr id="6" name="dsl:spreadsheet-icon|i=fas:file-excel" descr="tmp_y7d2k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6192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before-label"/>
          <p:cNvSpPr txBox="1"/>
          <p:nvPr/>
        </p:nvSpPr>
        <p:spPr>
          <a:xfrm>
            <a:off x="1619250" y="1619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E65100"/>
                </a:solidFill>
                <a:latin typeface="Arial"/>
                <a:ea typeface="Calibri"/>
              </a:rPr>
              <a:t>Before: 10 Parallel Compliance Operations</a:t>
            </a:r>
          </a:p>
        </p:txBody>
      </p:sp>
      <p:sp>
        <p:nvSpPr>
          <p:cNvPr id="8" name="dsl:before-body"/>
          <p:cNvSpPr txBox="1"/>
          <p:nvPr/>
        </p:nvSpPr>
        <p:spPr>
          <a:xfrm>
            <a:off x="1047750" y="2095500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A department managing ten clinical programs effectively runs ten parallel compliance operations — each with its own accreditor, licensure exams, threshold tracking, and site-visit cycles.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Usually managed out of </a:t>
            </a:r>
            <a:r>
              <a:rPr sz="1050" b="1" noProof="1">
                <a:solidFill>
                  <a:srgbClr val="5A5A6A"/>
                </a:solidFill>
                <a:latin typeface="Arial"/>
                <a:ea typeface="Calibri"/>
              </a:rPr>
              <a:t>coordinator spreadsheets</a:t>
            </a: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.</a:t>
            </a:r>
          </a:p>
        </p:txBody>
      </p:sp>
      <p:pic>
        <p:nvPicPr>
          <p:cNvPr id="9" name="dsl:dashboard-icon|i=fas:chart-pie" descr="tmpxqfui43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6192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after-label"/>
          <p:cNvSpPr txBox="1"/>
          <p:nvPr/>
        </p:nvSpPr>
        <p:spPr>
          <a:xfrm>
            <a:off x="7239000" y="1619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E7D32"/>
                </a:solidFill>
                <a:latin typeface="Arial"/>
                <a:ea typeface="Calibri"/>
              </a:rPr>
              <a:t>After: One Governed Dashboard</a:t>
            </a:r>
          </a:p>
        </p:txBody>
      </p:sp>
      <p:sp>
        <p:nvSpPr>
          <p:cNvPr id="11" name="dsl:after-body"/>
          <p:cNvSpPr txBox="1"/>
          <p:nvPr/>
        </p:nvSpPr>
        <p:spPr>
          <a:xfrm>
            <a:off x="6667500" y="2095500"/>
            <a:ext cx="4762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IOS+ continuously tracks each program's accreditor requirements, licensure-exam outcomes, and outcome thresholds — one governed, evidence-backed view replacing ten disconnected spreadsheets.</a:t>
            </a:r>
          </a:p>
        </p:txBody>
      </p:sp>
      <p:sp>
        <p:nvSpPr>
          <p:cNvPr id="12" name="dsl:value-bg"/>
          <p:cNvSpPr/>
          <p:nvPr/>
        </p:nvSpPr>
        <p:spPr>
          <a:xfrm>
            <a:off x="762000" y="3905250"/>
            <a:ext cx="10668000" cy="2286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dsl:value-icon|i=fas:heart-pulse" descr="tmp82cv6t9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1910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value-title"/>
          <p:cNvSpPr txBox="1"/>
          <p:nvPr/>
        </p:nvSpPr>
        <p:spPr>
          <a:xfrm>
            <a:off x="1714500" y="4191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E7D32"/>
                </a:solidFill>
                <a:latin typeface="Arial"/>
                <a:ea typeface="Calibri"/>
              </a:rPr>
              <a:t>NCLEX-RN Threshold Protection</a:t>
            </a:r>
          </a:p>
        </p:txBody>
      </p:sp>
      <p:sp>
        <p:nvSpPr>
          <p:cNvPr id="15" name="dsl:value-body"/>
          <p:cNvSpPr txBox="1"/>
          <p:nvPr/>
        </p:nvSpPr>
        <p:spPr>
          <a:xfrm>
            <a:off x="1047750" y="4667250"/>
            <a:ext cx="100965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IOS+ monitors licensure exam pass rates against accreditor thresholds in real time. If a program approaches a threshold breach, alerts fire immediately — giving you time to intervene, not time to panic.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Value: Prevents a $500K program loss by catching threshold drift before it becomes a breach.</a:t>
            </a:r>
          </a:p>
        </p:txBody>
      </p:sp>
      <p:sp>
        <p:nvSpPr>
          <p:cNvPr id="16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47650"/>
            <a:ext cx="8572500" cy="4381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250" b="1" noProof="1">
                <a:solidFill>
                  <a:srgbClr val="1A1A2E"/>
                </a:solidFill>
                <a:latin typeface="Arial"/>
                <a:ea typeface="Calibri"/>
              </a:rPr>
              <a:t>IOS+ Architecture v2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2390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838200"/>
            <a:ext cx="857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A5A6A"/>
                </a:solidFill>
                <a:latin typeface="Arial"/>
                <a:ea typeface="Calibri"/>
              </a:rPr>
              <a:t>Three connector classes · Two-layer engine · Outcome-aligned product layer</a:t>
            </a:r>
          </a:p>
        </p:txBody>
      </p:sp>
      <p:sp>
        <p:nvSpPr>
          <p:cNvPr id="6" name="dsl:campus-label"/>
          <p:cNvSpPr txBox="1"/>
          <p:nvPr/>
        </p:nvSpPr>
        <p:spPr>
          <a:xfrm>
            <a:off x="762000" y="1200150"/>
            <a:ext cx="1905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b="1" noProof="1">
                <a:solidFill>
                  <a:srgbClr val="2C5AA0"/>
                </a:solidFill>
                <a:latin typeface="Arial"/>
                <a:ea typeface="Calibri"/>
              </a:rPr>
              <a:t>CAMPUS SYSTEMS</a:t>
            </a:r>
          </a:p>
        </p:txBody>
      </p:sp>
      <p:sp>
        <p:nvSpPr>
          <p:cNvPr id="7" name="dsl:campus-banner"/>
          <p:cNvSpPr/>
          <p:nvPr/>
        </p:nvSpPr>
        <p:spPr>
          <a:xfrm>
            <a:off x="762000" y="1428750"/>
            <a:ext cx="1619250" cy="4191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sl:campus-banner-text"/>
          <p:cNvSpPr txBox="1"/>
          <p:nvPr/>
        </p:nvSpPr>
        <p:spPr>
          <a:xfrm>
            <a:off x="762000" y="1428750"/>
            <a:ext cx="16192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b="1" noProof="1">
                <a:solidFill>
                  <a:srgbClr val="2C5AA0"/>
                </a:solidFill>
                <a:latin typeface="Arial"/>
                <a:ea typeface="Calibri"/>
              </a:rPr>
              <a:t>Banner</a:t>
            </a:r>
            <a:r>
              <a:rPr sz="825" noProof="1">
                <a:solidFill>
                  <a:srgbClr val="2C5AA0"/>
                </a:solidFill>
                <a:latin typeface="Arial"/>
                <a:ea typeface="Calibri"/>
              </a:rPr>
              <a:t> / Ethos</a:t>
            </a:r>
          </a:p>
        </p:txBody>
      </p:sp>
      <p:sp>
        <p:nvSpPr>
          <p:cNvPr id="9" name="dsl:campus-bb"/>
          <p:cNvSpPr/>
          <p:nvPr/>
        </p:nvSpPr>
        <p:spPr>
          <a:xfrm>
            <a:off x="2524125" y="1428750"/>
            <a:ext cx="1619250" cy="4191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sl:campus-bb-text"/>
          <p:cNvSpPr txBox="1"/>
          <p:nvPr/>
        </p:nvSpPr>
        <p:spPr>
          <a:xfrm>
            <a:off x="2524125" y="1428750"/>
            <a:ext cx="16192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b="1" noProof="1">
                <a:solidFill>
                  <a:srgbClr val="2C5AA0"/>
                </a:solidFill>
                <a:latin typeface="Arial"/>
                <a:ea typeface="Calibri"/>
              </a:rPr>
              <a:t>Blackboard</a:t>
            </a:r>
          </a:p>
        </p:txBody>
      </p:sp>
      <p:sp>
        <p:nvSpPr>
          <p:cNvPr id="11" name="dsl:campus-conc"/>
          <p:cNvSpPr/>
          <p:nvPr/>
        </p:nvSpPr>
        <p:spPr>
          <a:xfrm>
            <a:off x="4286250" y="1428750"/>
            <a:ext cx="1619250" cy="4191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sl:campus-conc-text"/>
          <p:cNvSpPr txBox="1"/>
          <p:nvPr/>
        </p:nvSpPr>
        <p:spPr>
          <a:xfrm>
            <a:off x="4286250" y="1428750"/>
            <a:ext cx="161925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b="1" noProof="1">
                <a:solidFill>
                  <a:srgbClr val="2C5AA0"/>
                </a:solidFill>
                <a:latin typeface="Arial"/>
                <a:ea typeface="Calibri"/>
              </a:rPr>
              <a:t>Concourse</a:t>
            </a:r>
          </a:p>
        </p:txBody>
      </p:sp>
      <p:sp>
        <p:nvSpPr>
          <p:cNvPr id="13" name="dsl:public-label"/>
          <p:cNvSpPr txBox="1"/>
          <p:nvPr/>
        </p:nvSpPr>
        <p:spPr>
          <a:xfrm>
            <a:off x="762000" y="1962150"/>
            <a:ext cx="285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b="1" noProof="1">
                <a:solidFill>
                  <a:srgbClr val="E65100"/>
                </a:solidFill>
                <a:latin typeface="Arial"/>
                <a:ea typeface="Calibri"/>
              </a:rPr>
              <a:t>PUBLIC REGULATORY SOURCES</a:t>
            </a:r>
          </a:p>
        </p:txBody>
      </p:sp>
      <p:sp>
        <p:nvSpPr>
          <p:cNvPr id="14" name="dsl:public-ipeds"/>
          <p:cNvSpPr/>
          <p:nvPr/>
        </p:nvSpPr>
        <p:spPr>
          <a:xfrm>
            <a:off x="762000" y="2190750"/>
            <a:ext cx="1143000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sl:public-ipeds-text"/>
          <p:cNvSpPr txBox="1"/>
          <p:nvPr/>
        </p:nvSpPr>
        <p:spPr>
          <a:xfrm>
            <a:off x="762000" y="2190750"/>
            <a:ext cx="1143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8D6E00"/>
                </a:solidFill>
                <a:latin typeface="Arial"/>
                <a:ea typeface="Calibri"/>
              </a:rPr>
              <a:t>IPEDS</a:t>
            </a:r>
          </a:p>
        </p:txBody>
      </p:sp>
      <p:sp>
        <p:nvSpPr>
          <p:cNvPr id="16" name="dsl:public-cbm"/>
          <p:cNvSpPr/>
          <p:nvPr/>
        </p:nvSpPr>
        <p:spPr>
          <a:xfrm>
            <a:off x="2047875" y="219075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sl:public-cbm-text"/>
          <p:cNvSpPr txBox="1"/>
          <p:nvPr/>
        </p:nvSpPr>
        <p:spPr>
          <a:xfrm>
            <a:off x="2047875" y="219075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8D6E00"/>
                </a:solidFill>
                <a:latin typeface="Arial"/>
                <a:ea typeface="Calibri"/>
              </a:rPr>
              <a:t>CBM</a:t>
            </a:r>
          </a:p>
        </p:txBody>
      </p:sp>
      <p:sp>
        <p:nvSpPr>
          <p:cNvPr id="18" name="dsl:public-clery"/>
          <p:cNvSpPr/>
          <p:nvPr/>
        </p:nvSpPr>
        <p:spPr>
          <a:xfrm>
            <a:off x="3143250" y="219075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sl:public-clery-text"/>
          <p:cNvSpPr txBox="1"/>
          <p:nvPr/>
        </p:nvSpPr>
        <p:spPr>
          <a:xfrm>
            <a:off x="3143250" y="219075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8D6E00"/>
                </a:solidFill>
                <a:latin typeface="Arial"/>
                <a:ea typeface="Calibri"/>
              </a:rPr>
              <a:t>Clery</a:t>
            </a:r>
          </a:p>
        </p:txBody>
      </p:sp>
      <p:sp>
        <p:nvSpPr>
          <p:cNvPr id="20" name="dsl:public-accred"/>
          <p:cNvSpPr/>
          <p:nvPr/>
        </p:nvSpPr>
        <p:spPr>
          <a:xfrm>
            <a:off x="4238625" y="2190750"/>
            <a:ext cx="1666875" cy="381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sl:public-accred-text"/>
          <p:cNvSpPr txBox="1"/>
          <p:nvPr/>
        </p:nvSpPr>
        <p:spPr>
          <a:xfrm>
            <a:off x="4238625" y="2190750"/>
            <a:ext cx="1666875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8D6E00"/>
                </a:solidFill>
                <a:latin typeface="Arial"/>
                <a:ea typeface="Calibri"/>
              </a:rPr>
              <a:t>SACSCOC · ABET</a:t>
            </a:r>
          </a:p>
        </p:txBody>
      </p:sp>
      <p:sp>
        <p:nvSpPr>
          <p:cNvPr id="22" name="dsl:ai-label"/>
          <p:cNvSpPr txBox="1"/>
          <p:nvPr/>
        </p:nvSpPr>
        <p:spPr>
          <a:xfrm>
            <a:off x="762000" y="2667000"/>
            <a:ext cx="285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b="1" noProof="1">
                <a:solidFill>
                  <a:srgbClr val="6A1B9A"/>
                </a:solidFill>
                <a:latin typeface="Arial"/>
                <a:ea typeface="Calibri"/>
              </a:rPr>
              <a:t>GOVERNED AI SERVICES</a:t>
            </a:r>
          </a:p>
        </p:txBody>
      </p:sp>
      <p:sp>
        <p:nvSpPr>
          <p:cNvPr id="23" name="dsl:ai-copilot"/>
          <p:cNvSpPr/>
          <p:nvPr/>
        </p:nvSpPr>
        <p:spPr>
          <a:xfrm>
            <a:off x="762000" y="2895600"/>
            <a:ext cx="1619250" cy="38100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sl:ai-copilot-text"/>
          <p:cNvSpPr txBox="1"/>
          <p:nvPr/>
        </p:nvSpPr>
        <p:spPr>
          <a:xfrm>
            <a:off x="762000" y="2895600"/>
            <a:ext cx="1619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6A1B9A"/>
                </a:solidFill>
                <a:latin typeface="Arial"/>
                <a:ea typeface="Calibri"/>
              </a:rPr>
              <a:t>Copilot</a:t>
            </a:r>
            <a:r>
              <a:rPr sz="750" noProof="1">
                <a:solidFill>
                  <a:srgbClr val="6A1B9A"/>
                </a:solidFill>
                <a:latin typeface="Arial"/>
                <a:ea typeface="Calibri"/>
              </a:rPr>
              <a:t> (bounded)</a:t>
            </a:r>
          </a:p>
        </p:txBody>
      </p:sp>
      <p:sp>
        <p:nvSpPr>
          <p:cNvPr id="25" name="dsl:ai-claude"/>
          <p:cNvSpPr/>
          <p:nvPr/>
        </p:nvSpPr>
        <p:spPr>
          <a:xfrm>
            <a:off x="2524125" y="2895600"/>
            <a:ext cx="1238250" cy="38100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sl:ai-claude-text"/>
          <p:cNvSpPr txBox="1"/>
          <p:nvPr/>
        </p:nvSpPr>
        <p:spPr>
          <a:xfrm>
            <a:off x="2524125" y="2895600"/>
            <a:ext cx="1238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6A1B9A"/>
                </a:solidFill>
                <a:latin typeface="Arial"/>
                <a:ea typeface="Calibri"/>
              </a:rPr>
              <a:t>Claude MCP</a:t>
            </a:r>
          </a:p>
        </p:txBody>
      </p:sp>
      <p:sp>
        <p:nvSpPr>
          <p:cNvPr id="27" name="dsl:ai-firecrawl"/>
          <p:cNvSpPr/>
          <p:nvPr/>
        </p:nvSpPr>
        <p:spPr>
          <a:xfrm>
            <a:off x="3905250" y="2895600"/>
            <a:ext cx="1381125" cy="38100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sl:ai-firecrawl-text"/>
          <p:cNvSpPr txBox="1"/>
          <p:nvPr/>
        </p:nvSpPr>
        <p:spPr>
          <a:xfrm>
            <a:off x="3905250" y="2895600"/>
            <a:ext cx="1381125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750" b="1" noProof="1">
                <a:solidFill>
                  <a:srgbClr val="6A1B9A"/>
                </a:solidFill>
                <a:latin typeface="Arial"/>
                <a:ea typeface="Calibri"/>
              </a:rPr>
              <a:t>Firecrawl MCP</a:t>
            </a:r>
          </a:p>
        </p:txBody>
      </p:sp>
      <p:sp>
        <p:nvSpPr>
          <p:cNvPr id="29" name="dsl:approval-bg"/>
          <p:cNvSpPr/>
          <p:nvPr/>
        </p:nvSpPr>
        <p:spPr>
          <a:xfrm>
            <a:off x="762000" y="3429000"/>
            <a:ext cx="10668000" cy="32385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sl:approval-text"/>
          <p:cNvSpPr txBox="1"/>
          <p:nvPr/>
        </p:nvSpPr>
        <p:spPr>
          <a:xfrm>
            <a:off x="762000" y="3429000"/>
            <a:ext cx="1066800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b="1" noProof="1">
                <a:solidFill>
                  <a:srgbClr val="8D6E00"/>
                </a:solidFill>
                <a:latin typeface="Arial"/>
                <a:ea typeface="Calibri"/>
              </a:rPr>
              <a:t>APPROVAL GATE</a:t>
            </a:r>
            <a:r>
              <a:rPr sz="900" noProof="1">
                <a:solidFill>
                  <a:srgbClr val="8D6E00"/>
                </a:solidFill>
                <a:latin typeface="Arial"/>
                <a:ea typeface="Calibri"/>
              </a:rPr>
              <a:t> — Detected change → Proposed update → Human approval → Deploy to rule/report layer</a:t>
            </a:r>
          </a:p>
        </p:txBody>
      </p:sp>
      <p:sp>
        <p:nvSpPr>
          <p:cNvPr id="31" name="dsl:engine-bg"/>
          <p:cNvSpPr/>
          <p:nvPr/>
        </p:nvSpPr>
        <p:spPr>
          <a:xfrm>
            <a:off x="762000" y="3886200"/>
            <a:ext cx="10668000" cy="2266950"/>
          </a:xfrm>
          <a:prstGeom prst="roundRect">
            <a:avLst>
              <a:gd name="adj" fmla="val 3000"/>
            </a:avLst>
          </a:prstGeom>
          <a:solidFill>
            <a:srgbClr val="E6F5E6"/>
          </a:solidFill>
          <a:ln w="25400">
            <a:solidFill>
              <a:srgbClr val="A8D5A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sl:engine-label"/>
          <p:cNvSpPr txBox="1"/>
          <p:nvPr/>
        </p:nvSpPr>
        <p:spPr>
          <a:xfrm>
            <a:off x="952500" y="3962400"/>
            <a:ext cx="4762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825" b="1" noProof="1">
                <a:solidFill>
                  <a:srgbClr val="2D6A4F"/>
                </a:solidFill>
                <a:latin typeface="Arial"/>
                <a:ea typeface="Calibri"/>
              </a:rPr>
              <a:t>IOS+ ENGINE — ON PREMISES</a:t>
            </a:r>
          </a:p>
        </p:txBody>
      </p:sp>
      <p:sp>
        <p:nvSpPr>
          <p:cNvPr id="33" name="dsl:engine-right"/>
          <p:cNvSpPr txBox="1"/>
          <p:nvPr/>
        </p:nvSpPr>
        <p:spPr>
          <a:xfrm>
            <a:off x="8572500" y="3962400"/>
            <a:ext cx="2667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5A5A6A"/>
                </a:solidFill>
                <a:latin typeface="Arial"/>
                <a:ea typeface="Calibri"/>
              </a:rPr>
              <a:t>Data never leaves campus</a:t>
            </a:r>
          </a:p>
        </p:txBody>
      </p:sp>
      <p:sp>
        <p:nvSpPr>
          <p:cNvPr id="34" name="dsl:exec-connectors"/>
          <p:cNvSpPr/>
          <p:nvPr/>
        </p:nvSpPr>
        <p:spPr>
          <a:xfrm>
            <a:off x="952500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sl:exec-connectors-text"/>
          <p:cNvSpPr txBox="1"/>
          <p:nvPr/>
        </p:nvSpPr>
        <p:spPr>
          <a:xfrm>
            <a:off x="952500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558B2F"/>
                </a:solidFill>
                <a:latin typeface="Arial"/>
                <a:ea typeface="Calibri"/>
              </a:rPr>
              <a:t>Connector Workers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Ingestion + sync</a:t>
            </a:r>
          </a:p>
        </p:txBody>
      </p:sp>
      <p:sp>
        <p:nvSpPr>
          <p:cNvPr id="36" name="dsl:exec-normalize"/>
          <p:cNvSpPr/>
          <p:nvPr/>
        </p:nvSpPr>
        <p:spPr>
          <a:xfrm>
            <a:off x="2905125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sl:exec-normalize-text"/>
          <p:cNvSpPr txBox="1"/>
          <p:nvPr/>
        </p:nvSpPr>
        <p:spPr>
          <a:xfrm>
            <a:off x="2905125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558B2F"/>
                </a:solidFill>
                <a:latin typeface="Arial"/>
                <a:ea typeface="Calibri"/>
              </a:rPr>
              <a:t>Normalization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ETL + schema map</a:t>
            </a:r>
          </a:p>
        </p:txBody>
      </p:sp>
      <p:sp>
        <p:nvSpPr>
          <p:cNvPr id="38" name="dsl:exec-rules"/>
          <p:cNvSpPr/>
          <p:nvPr/>
        </p:nvSpPr>
        <p:spPr>
          <a:xfrm>
            <a:off x="4857750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sl:exec-rules-text"/>
          <p:cNvSpPr txBox="1"/>
          <p:nvPr/>
        </p:nvSpPr>
        <p:spPr>
          <a:xfrm>
            <a:off x="4857750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558B2F"/>
                </a:solidFill>
                <a:latin typeface="Arial"/>
                <a:ea typeface="Calibri"/>
              </a:rPr>
              <a:t>Rules Engine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Gate 530 + workflow</a:t>
            </a:r>
          </a:p>
        </p:txBody>
      </p:sp>
      <p:sp>
        <p:nvSpPr>
          <p:cNvPr id="40" name="dsl:exec-scoring"/>
          <p:cNvSpPr/>
          <p:nvPr/>
        </p:nvSpPr>
        <p:spPr>
          <a:xfrm>
            <a:off x="6810375" y="4248150"/>
            <a:ext cx="180975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sl:exec-scoring-text"/>
          <p:cNvSpPr txBox="1"/>
          <p:nvPr/>
        </p:nvSpPr>
        <p:spPr>
          <a:xfrm>
            <a:off x="6810375" y="4248150"/>
            <a:ext cx="180975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558B2F"/>
                </a:solidFill>
                <a:latin typeface="Arial"/>
                <a:ea typeface="Calibri"/>
              </a:rPr>
              <a:t>Scoring Jobs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ML + analytics</a:t>
            </a:r>
          </a:p>
        </p:txBody>
      </p:sp>
      <p:sp>
        <p:nvSpPr>
          <p:cNvPr id="42" name="dsl:exec-api"/>
          <p:cNvSpPr/>
          <p:nvPr/>
        </p:nvSpPr>
        <p:spPr>
          <a:xfrm>
            <a:off x="8763000" y="4248150"/>
            <a:ext cx="2476500" cy="495300"/>
          </a:xfrm>
          <a:prstGeom prst="roundRect">
            <a:avLst>
              <a:gd name="adj" fmla="val 8000"/>
            </a:avLst>
          </a:prstGeom>
          <a:solidFill>
            <a:srgbClr val="EEF8E8"/>
          </a:solidFill>
          <a:ln w="12700">
            <a:solidFill>
              <a:srgbClr val="C5E1A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sl:exec-api-text"/>
          <p:cNvSpPr txBox="1"/>
          <p:nvPr/>
        </p:nvSpPr>
        <p:spPr>
          <a:xfrm>
            <a:off x="8763000" y="4248150"/>
            <a:ext cx="2476500" cy="495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558B2F"/>
                </a:solidFill>
                <a:latin typeface="Arial"/>
                <a:ea typeface="Calibri"/>
              </a:rPr>
              <a:t>API / Web Services</a:t>
            </a:r>
          </a:p>
          <a:p>
            <a:pPr algn="ctr"/>
            <a:r>
              <a:rPr sz="750" noProof="1">
                <a:solidFill>
                  <a:srgbClr val="558B2F"/>
                </a:solidFill>
                <a:latin typeface="Arial"/>
                <a:ea typeface="Calibri"/>
              </a:rPr>
              <a:t>REST + GraphQL + webhooks</a:t>
            </a:r>
          </a:p>
        </p:txBody>
      </p:sp>
      <p:sp>
        <p:nvSpPr>
          <p:cNvPr id="44" name="dsl:gov-rbac"/>
          <p:cNvSpPr/>
          <p:nvPr/>
        </p:nvSpPr>
        <p:spPr>
          <a:xfrm>
            <a:off x="952500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dsl:gov-rbac-text"/>
          <p:cNvSpPr txBox="1"/>
          <p:nvPr/>
        </p:nvSpPr>
        <p:spPr>
          <a:xfrm>
            <a:off x="952500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2C5AA0"/>
                </a:solidFill>
                <a:latin typeface="Arial"/>
                <a:ea typeface="Calibri"/>
              </a:rPr>
              <a:t>RBAC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Role-lens governance</a:t>
            </a:r>
          </a:p>
        </p:txBody>
      </p:sp>
      <p:sp>
        <p:nvSpPr>
          <p:cNvPr id="46" name="dsl:gov-pseudo"/>
          <p:cNvSpPr/>
          <p:nvPr/>
        </p:nvSpPr>
        <p:spPr>
          <a:xfrm>
            <a:off x="2905125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sl:gov-pseudo-text"/>
          <p:cNvSpPr txBox="1"/>
          <p:nvPr/>
        </p:nvSpPr>
        <p:spPr>
          <a:xfrm>
            <a:off x="2905125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2C5AA0"/>
                </a:solidFill>
                <a:latin typeface="Arial"/>
                <a:ea typeface="Calibri"/>
              </a:rPr>
              <a:t>Pseudonymization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SYN IDs + hashing</a:t>
            </a:r>
          </a:p>
        </p:txBody>
      </p:sp>
      <p:sp>
        <p:nvSpPr>
          <p:cNvPr id="48" name="dsl:gov-audit"/>
          <p:cNvSpPr/>
          <p:nvPr/>
        </p:nvSpPr>
        <p:spPr>
          <a:xfrm>
            <a:off x="4857750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dsl:gov-audit-text"/>
          <p:cNvSpPr txBox="1"/>
          <p:nvPr/>
        </p:nvSpPr>
        <p:spPr>
          <a:xfrm>
            <a:off x="4857750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2C5AA0"/>
                </a:solidFill>
                <a:latin typeface="Arial"/>
                <a:ea typeface="Calibri"/>
              </a:rPr>
              <a:t>Audit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WORM + SHA-256</a:t>
            </a:r>
          </a:p>
        </p:txBody>
      </p:sp>
      <p:sp>
        <p:nvSpPr>
          <p:cNvPr id="50" name="dsl:gov-depseudo"/>
          <p:cNvSpPr/>
          <p:nvPr/>
        </p:nvSpPr>
        <p:spPr>
          <a:xfrm>
            <a:off x="6810375" y="4857750"/>
            <a:ext cx="180975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dsl:gov-depseudo-text"/>
          <p:cNvSpPr txBox="1"/>
          <p:nvPr/>
        </p:nvSpPr>
        <p:spPr>
          <a:xfrm>
            <a:off x="6810375" y="4857750"/>
            <a:ext cx="180975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2C5AA0"/>
                </a:solidFill>
                <a:latin typeface="Arial"/>
                <a:ea typeface="Calibri"/>
              </a:rPr>
              <a:t>De-Pseudo Control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Controlled re-identification</a:t>
            </a:r>
          </a:p>
        </p:txBody>
      </p:sp>
      <p:sp>
        <p:nvSpPr>
          <p:cNvPr id="52" name="dsl:gov-policy"/>
          <p:cNvSpPr/>
          <p:nvPr/>
        </p:nvSpPr>
        <p:spPr>
          <a:xfrm>
            <a:off x="8763000" y="4857750"/>
            <a:ext cx="2476500" cy="4572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dsl:gov-policy-text"/>
          <p:cNvSpPr txBox="1"/>
          <p:nvPr/>
        </p:nvSpPr>
        <p:spPr>
          <a:xfrm>
            <a:off x="8763000" y="4857750"/>
            <a:ext cx="24765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750" b="1" noProof="1">
                <a:solidFill>
                  <a:srgbClr val="2C5AA0"/>
                </a:solidFill>
                <a:latin typeface="Arial"/>
                <a:ea typeface="Calibri"/>
              </a:rPr>
              <a:t>Policy Enforcement</a:t>
            </a:r>
          </a:p>
          <a:p>
            <a:pPr algn="ctr"/>
            <a:r>
              <a:rPr sz="750" noProof="1">
                <a:solidFill>
                  <a:srgbClr val="2C5AA0"/>
                </a:solidFill>
                <a:latin typeface="Arial"/>
                <a:ea typeface="Calibri"/>
              </a:rPr>
              <a:t>Gate 530 + fail-closed</a:t>
            </a:r>
          </a:p>
        </p:txBody>
      </p:sp>
      <p:sp>
        <p:nvSpPr>
          <p:cNvPr id="54" name="dsl:trust-canonical"/>
          <p:cNvSpPr/>
          <p:nvPr/>
        </p:nvSpPr>
        <p:spPr>
          <a:xfrm>
            <a:off x="952500" y="5448300"/>
            <a:ext cx="3143250" cy="55245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dsl:trust-canonical-text"/>
          <p:cNvSpPr txBox="1"/>
          <p:nvPr/>
        </p:nvSpPr>
        <p:spPr>
          <a:xfrm>
            <a:off x="952500" y="5448300"/>
            <a:ext cx="314325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25" b="1" noProof="1">
                <a:solidFill>
                  <a:srgbClr val="6A1B9A"/>
                </a:solidFill>
                <a:latin typeface="Arial"/>
                <a:ea typeface="Calibri"/>
              </a:rPr>
              <a:t>Canonical Layer</a:t>
            </a:r>
          </a:p>
          <a:p>
            <a:pPr algn="ctr"/>
            <a:r>
              <a:rPr sz="825" noProof="1">
                <a:solidFill>
                  <a:srgbClr val="6A1B9A"/>
                </a:solidFill>
                <a:latin typeface="Arial"/>
                <a:ea typeface="Calibri"/>
              </a:rPr>
              <a:t>One student · one record · pseudonymized</a:t>
            </a:r>
          </a:p>
        </p:txBody>
      </p:sp>
      <p:sp>
        <p:nvSpPr>
          <p:cNvPr id="56" name="dsl:trust-matrix"/>
          <p:cNvSpPr/>
          <p:nvPr/>
        </p:nvSpPr>
        <p:spPr>
          <a:xfrm>
            <a:off x="4286250" y="5448300"/>
            <a:ext cx="3143250" cy="55245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dsl:trust-matrix-text"/>
          <p:cNvSpPr txBox="1"/>
          <p:nvPr/>
        </p:nvSpPr>
        <p:spPr>
          <a:xfrm>
            <a:off x="4286250" y="5448300"/>
            <a:ext cx="314325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25" b="1" noProof="1">
                <a:solidFill>
                  <a:srgbClr val="6A1B9A"/>
                </a:solidFill>
                <a:latin typeface="Arial"/>
                <a:ea typeface="Calibri"/>
              </a:rPr>
              <a:t>Universal Decoding Matrix</a:t>
            </a:r>
          </a:p>
          <a:p>
            <a:pPr algn="ctr"/>
            <a:r>
              <a:rPr sz="825" noProof="1">
                <a:solidFill>
                  <a:srgbClr val="6A1B9A"/>
                </a:solidFill>
                <a:latin typeface="Arial"/>
                <a:ea typeface="Calibri"/>
              </a:rPr>
              <a:t>CIP · SOC · NAICS · License</a:t>
            </a:r>
          </a:p>
        </p:txBody>
      </p:sp>
      <p:sp>
        <p:nvSpPr>
          <p:cNvPr id="58" name="dsl:trust-evidence"/>
          <p:cNvSpPr/>
          <p:nvPr/>
        </p:nvSpPr>
        <p:spPr>
          <a:xfrm>
            <a:off x="7620000" y="5448300"/>
            <a:ext cx="3619500" cy="552450"/>
          </a:xfrm>
          <a:prstGeom prst="roundRect">
            <a:avLst>
              <a:gd name="adj" fmla="val 8000"/>
            </a:avLst>
          </a:prstGeom>
          <a:solidFill>
            <a:srgbClr val="F0E6FF"/>
          </a:solidFill>
          <a:ln w="12700">
            <a:solidFill>
              <a:srgbClr val="C9A8F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dsl:trust-evidence-text"/>
          <p:cNvSpPr txBox="1"/>
          <p:nvPr/>
        </p:nvSpPr>
        <p:spPr>
          <a:xfrm>
            <a:off x="7620000" y="5448300"/>
            <a:ext cx="3619500" cy="5524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25" b="1" noProof="1">
                <a:solidFill>
                  <a:srgbClr val="6A1B9A"/>
                </a:solidFill>
                <a:latin typeface="Arial"/>
                <a:ea typeface="Calibri"/>
              </a:rPr>
              <a:t>Evidence Chain</a:t>
            </a:r>
          </a:p>
          <a:p>
            <a:pPr algn="ctr"/>
            <a:r>
              <a:rPr sz="825" noProof="1">
                <a:solidFill>
                  <a:srgbClr val="6A1B9A"/>
                </a:solidFill>
                <a:latin typeface="Arial"/>
                <a:ea typeface="Calibri"/>
              </a:rPr>
              <a:t>Ed25519 · JCS · SHA-256 · trace to every output</a:t>
            </a:r>
          </a:p>
        </p:txBody>
      </p:sp>
      <p:sp>
        <p:nvSpPr>
          <p:cNvPr id="60" name="dsl:outcome-label"/>
          <p:cNvSpPr txBox="1"/>
          <p:nvPr/>
        </p:nvSpPr>
        <p:spPr>
          <a:xfrm>
            <a:off x="762000" y="62865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50" b="1" noProof="1">
                <a:solidFill>
                  <a:srgbClr val="2E7D32"/>
                </a:solidFill>
                <a:latin typeface="Arial"/>
                <a:ea typeface="Calibri"/>
              </a:rPr>
              <a:t>OUTCOME APPLICATIONS</a:t>
            </a:r>
          </a:p>
        </p:txBody>
      </p:sp>
      <p:sp>
        <p:nvSpPr>
          <p:cNvPr id="61" name="dsl:outcome-uc01"/>
          <p:cNvSpPr/>
          <p:nvPr/>
        </p:nvSpPr>
        <p:spPr>
          <a:xfrm>
            <a:off x="7620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dsl:outcome-uc01-text"/>
          <p:cNvSpPr txBox="1"/>
          <p:nvPr/>
        </p:nvSpPr>
        <p:spPr>
          <a:xfrm>
            <a:off x="7620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UC-01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Persistence</a:t>
            </a:r>
          </a:p>
        </p:txBody>
      </p:sp>
      <p:sp>
        <p:nvSpPr>
          <p:cNvPr id="63" name="dsl:outcome-uc02"/>
          <p:cNvSpPr/>
          <p:nvPr/>
        </p:nvSpPr>
        <p:spPr>
          <a:xfrm>
            <a:off x="219075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dsl:outcome-uc02-text"/>
          <p:cNvSpPr txBox="1"/>
          <p:nvPr/>
        </p:nvSpPr>
        <p:spPr>
          <a:xfrm>
            <a:off x="219075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UC-02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Transcript</a:t>
            </a:r>
          </a:p>
        </p:txBody>
      </p:sp>
      <p:sp>
        <p:nvSpPr>
          <p:cNvPr id="65" name="dsl:outcome-uc03"/>
          <p:cNvSpPr/>
          <p:nvPr/>
        </p:nvSpPr>
        <p:spPr>
          <a:xfrm>
            <a:off x="36195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dsl:outcome-uc03-text"/>
          <p:cNvSpPr txBox="1"/>
          <p:nvPr/>
        </p:nvSpPr>
        <p:spPr>
          <a:xfrm>
            <a:off x="36195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UC-03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Accredit</a:t>
            </a:r>
          </a:p>
        </p:txBody>
      </p:sp>
      <p:sp>
        <p:nvSpPr>
          <p:cNvPr id="67" name="dsl:outcome-uc04"/>
          <p:cNvSpPr/>
          <p:nvPr/>
        </p:nvSpPr>
        <p:spPr>
          <a:xfrm>
            <a:off x="504825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sl:outcome-uc04-text"/>
          <p:cNvSpPr txBox="1"/>
          <p:nvPr/>
        </p:nvSpPr>
        <p:spPr>
          <a:xfrm>
            <a:off x="504825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UC-04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Alignment</a:t>
            </a:r>
          </a:p>
        </p:txBody>
      </p:sp>
      <p:sp>
        <p:nvSpPr>
          <p:cNvPr id="69" name="dsl:outcome-uc05"/>
          <p:cNvSpPr/>
          <p:nvPr/>
        </p:nvSpPr>
        <p:spPr>
          <a:xfrm>
            <a:off x="64770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dsl:outcome-uc05-text"/>
          <p:cNvSpPr txBox="1"/>
          <p:nvPr/>
        </p:nvSpPr>
        <p:spPr>
          <a:xfrm>
            <a:off x="64770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UC-05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Load</a:t>
            </a:r>
          </a:p>
        </p:txBody>
      </p:sp>
      <p:sp>
        <p:nvSpPr>
          <p:cNvPr id="71" name="dsl:outcome-uc06"/>
          <p:cNvSpPr/>
          <p:nvPr/>
        </p:nvSpPr>
        <p:spPr>
          <a:xfrm>
            <a:off x="790575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dsl:outcome-uc06-text"/>
          <p:cNvSpPr txBox="1"/>
          <p:nvPr/>
        </p:nvSpPr>
        <p:spPr>
          <a:xfrm>
            <a:off x="790575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UC-06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Health</a:t>
            </a:r>
          </a:p>
        </p:txBody>
      </p:sp>
      <p:sp>
        <p:nvSpPr>
          <p:cNvPr id="73" name="dsl:outcome-uc08"/>
          <p:cNvSpPr/>
          <p:nvPr/>
        </p:nvSpPr>
        <p:spPr>
          <a:xfrm>
            <a:off x="9334500" y="6515100"/>
            <a:ext cx="1333500" cy="2667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dsl:outcome-uc08-text"/>
          <p:cNvSpPr txBox="1"/>
          <p:nvPr/>
        </p:nvSpPr>
        <p:spPr>
          <a:xfrm>
            <a:off x="9334500" y="6515100"/>
            <a:ext cx="133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675" b="1" noProof="1">
                <a:solidFill>
                  <a:srgbClr val="2E7D32"/>
                </a:solidFill>
                <a:latin typeface="Arial"/>
                <a:ea typeface="Calibri"/>
              </a:rPr>
              <a:t>UC-08</a:t>
            </a:r>
            <a:r>
              <a:rPr sz="675" noProof="1">
                <a:solidFill>
                  <a:srgbClr val="2E7D32"/>
                </a:solidFill>
                <a:latin typeface="Arial"/>
                <a:ea typeface="Calibri"/>
              </a:rPr>
              <a:t> Watchtower</a:t>
            </a:r>
          </a:p>
        </p:txBody>
      </p:sp>
      <p:sp>
        <p:nvSpPr>
          <p:cNvPr id="75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Your Workflow Changes Minimally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IOS+ adds protection. It does not add friction.</a:t>
            </a:r>
          </a:p>
        </p:txBody>
      </p:sp>
      <p:sp>
        <p:nvSpPr>
          <p:cNvPr id="6" name="dsl:card1-bg"/>
          <p:cNvSpPr/>
          <p:nvPr/>
        </p:nvSpPr>
        <p:spPr>
          <a:xfrm>
            <a:off x="762000" y="1524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sl:card1-icon|i=fas:right-to-bracket" descr="tmp58h472h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90500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card1-title"/>
          <p:cNvSpPr txBox="1"/>
          <p:nvPr/>
        </p:nvSpPr>
        <p:spPr>
          <a:xfrm>
            <a:off x="952500" y="2667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b="1" noProof="1">
                <a:solidFill>
                  <a:srgbClr val="1A1A2E"/>
                </a:solidFill>
                <a:latin typeface="Arial"/>
                <a:ea typeface="Calibri"/>
              </a:rPr>
              <a:t>Same Login</a:t>
            </a:r>
          </a:p>
        </p:txBody>
      </p:sp>
      <p:sp>
        <p:nvSpPr>
          <p:cNvPr id="9" name="dsl:card1-body"/>
          <p:cNvSpPr txBox="1"/>
          <p:nvPr/>
        </p:nvSpPr>
        <p:spPr>
          <a:xfrm>
            <a:off x="952500" y="3048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SSO through your existing identity provider. One additional policy check — invisible to you.</a:t>
            </a:r>
          </a:p>
        </p:txBody>
      </p:sp>
      <p:sp>
        <p:nvSpPr>
          <p:cNvPr id="10" name="dsl:card2-bg"/>
          <p:cNvSpPr/>
          <p:nvPr/>
        </p:nvSpPr>
        <p:spPr>
          <a:xfrm>
            <a:off x="4381500" y="1524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dsl:card2-icon|i=fas:laptop" descr="tmpi4vl9d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90500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2-title"/>
          <p:cNvSpPr txBox="1"/>
          <p:nvPr/>
        </p:nvSpPr>
        <p:spPr>
          <a:xfrm>
            <a:off x="4572000" y="2667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b="1" noProof="1">
                <a:solidFill>
                  <a:srgbClr val="1A1A2E"/>
                </a:solidFill>
                <a:latin typeface="Arial"/>
                <a:ea typeface="Calibri"/>
              </a:rPr>
              <a:t>Same Tools</a:t>
            </a:r>
          </a:p>
        </p:txBody>
      </p:sp>
      <p:sp>
        <p:nvSpPr>
          <p:cNvPr id="13" name="dsl:card2-body"/>
          <p:cNvSpPr txBox="1"/>
          <p:nvPr/>
        </p:nvSpPr>
        <p:spPr>
          <a:xfrm>
            <a:off x="4572000" y="3048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Banner, Blackboard, Concourse, and Copilot all work exactly as they do today. No retraining.</a:t>
            </a:r>
          </a:p>
        </p:txBody>
      </p:sp>
      <p:sp>
        <p:nvSpPr>
          <p:cNvPr id="14" name="dsl:card3-bg"/>
          <p:cNvSpPr/>
          <p:nvPr/>
        </p:nvSpPr>
        <p:spPr>
          <a:xfrm>
            <a:off x="8001000" y="15240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0D78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dsl:card3-icon|i=fas:shield-heart" descr="tmp4hcp6_m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1905000"/>
            <a:ext cx="571500" cy="571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card3-title"/>
          <p:cNvSpPr txBox="1"/>
          <p:nvPr/>
        </p:nvSpPr>
        <p:spPr>
          <a:xfrm>
            <a:off x="8191500" y="2667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b="1" noProof="1">
                <a:solidFill>
                  <a:srgbClr val="1A1A2E"/>
                </a:solidFill>
                <a:latin typeface="Arial"/>
                <a:ea typeface="Calibri"/>
              </a:rPr>
              <a:t>More Protection</a:t>
            </a:r>
          </a:p>
        </p:txBody>
      </p:sp>
      <p:sp>
        <p:nvSpPr>
          <p:cNvPr id="17" name="dsl:card3-body"/>
          <p:cNvSpPr txBox="1"/>
          <p:nvPr/>
        </p:nvSpPr>
        <p:spPr>
          <a:xfrm>
            <a:off x="8191500" y="3048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Every query is logged, signed, and auditable. You are protected from FERPA liability by design.</a:t>
            </a:r>
          </a:p>
        </p:txBody>
      </p:sp>
      <p:sp>
        <p:nvSpPr>
          <p:cNvPr id="18" name="dsl:human-bg"/>
          <p:cNvSpPr/>
          <p:nvPr/>
        </p:nvSpPr>
        <p:spPr>
          <a:xfrm>
            <a:off x="762000" y="4476750"/>
            <a:ext cx="10668000" cy="142875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dsl:human-icon|i=fas:hand" descr="tmpal9h1d9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481012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human-title"/>
          <p:cNvSpPr txBox="1"/>
          <p:nvPr/>
        </p:nvSpPr>
        <p:spPr>
          <a:xfrm>
            <a:off x="1619250" y="4762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1A1A2E"/>
                </a:solidFill>
                <a:latin typeface="Arial"/>
                <a:ea typeface="Calibri"/>
              </a:rPr>
              <a:t>Human-in-the-Loop</a:t>
            </a:r>
          </a:p>
        </p:txBody>
      </p:sp>
      <p:sp>
        <p:nvSpPr>
          <p:cNvPr id="21" name="dsl:human-body"/>
          <p:cNvSpPr txBox="1"/>
          <p:nvPr/>
        </p:nvSpPr>
        <p:spPr>
          <a:xfrm>
            <a:off x="1047750" y="5143500"/>
            <a:ext cx="10096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IOS+ never makes a final decision. It surfaces evidence, flags risk, and recommends action. You approve, override, or escalate. The system serves you — it does not replace you.</a:t>
            </a:r>
          </a:p>
        </p:txBody>
      </p:sp>
      <p:sp>
        <p:nvSpPr>
          <p:cNvPr id="22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18-Month Phased Rollout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dsl:timeline-table"/>
          <p:cNvGraphicFramePr>
            <a:graphicFrameLocks noGrp="1"/>
          </p:cNvGraphicFramePr>
          <p:nvPr/>
        </p:nvGraphicFramePr>
        <p:xfrm>
          <a:off x="762000" y="1143000"/>
          <a:ext cx="10668000" cy="45719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Phase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Timeline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Deliverable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Go-Live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Budget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Arial"/>
                          <a:ea typeface="Calibri"/>
                        </a:rPr>
                        <a:t>Faculty Impact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1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1–6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Core engine + AI governance + Banner/Blackboard integration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$265,000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FERPA compliance enforced; all tools audited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1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7–9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Predictive persistence + advisor intervention queue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$80,000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Early warning alerts for at-risk students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1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10–12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Transcript evaluation workflow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$60,000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2-day transcript turnaround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1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13–15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Accreditation heat map + drift detection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15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$50,000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Continuous SACSCOC readiness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1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Phase 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Months 16–18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Grading load + allied health dashboard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Month 18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$40,000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1A2E"/>
                          </a:solidFill>
                          <a:latin typeface="Arial"/>
                          <a:ea typeface="Calibri"/>
                        </a:rPr>
                        <a:t>Programmatic compliance tracking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dsl:milestone-bar"/>
          <p:cNvSpPr/>
          <p:nvPr/>
        </p:nvSpPr>
        <p:spPr>
          <a:xfrm>
            <a:off x="762000" y="5905500"/>
            <a:ext cx="10668000" cy="38100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milestone-text"/>
          <p:cNvSpPr txBox="1"/>
          <p:nvPr/>
        </p:nvSpPr>
        <p:spPr>
          <a:xfrm>
            <a:off x="952500" y="5905500"/>
            <a:ext cx="10287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b="1" noProof="1">
                <a:solidFill>
                  <a:srgbClr val="2C5AA0"/>
                </a:solidFill>
                <a:latin typeface="Arial"/>
                <a:ea typeface="Calibri"/>
              </a:rPr>
              <a:t>Milestones:</a:t>
            </a:r>
            <a:r>
              <a:rPr sz="900" noProof="1">
                <a:solidFill>
                  <a:srgbClr val="2C5AA0"/>
                </a:solidFill>
                <a:latin typeface="Arial"/>
                <a:ea typeface="Calibri"/>
              </a:rPr>
              <a:t> M3 = Integration complete | M6 = Gate 530 live | M9 = First advisor queue | M12 = Transcript eval | M15 = SACSCOC dashboard | M18 = Full platform</a:t>
            </a:r>
          </a:p>
        </p:txBody>
      </p:sp>
      <p:sp>
        <p:nvSpPr>
          <p:cNvPr id="8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Investment &amp; Return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A Strong Business Case for Lamar</a:t>
            </a:r>
          </a:p>
        </p:txBody>
      </p:sp>
      <p:sp>
        <p:nvSpPr>
          <p:cNvPr id="6" name="dsl:invest-bg"/>
          <p:cNvSpPr/>
          <p:nvPr/>
        </p:nvSpPr>
        <p:spPr>
          <a:xfrm>
            <a:off x="762000" y="1524000"/>
            <a:ext cx="5143500" cy="2286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sl:invest-icon|i=fas:wallet" descr="tmpal9h1d9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809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invest-label"/>
          <p:cNvSpPr txBox="1"/>
          <p:nvPr/>
        </p:nvSpPr>
        <p:spPr>
          <a:xfrm>
            <a:off x="1619250" y="1809750"/>
            <a:ext cx="4000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5AA0"/>
                </a:solidFill>
                <a:latin typeface="Arial"/>
                <a:ea typeface="Calibri"/>
              </a:rPr>
              <a:t>Investment</a:t>
            </a:r>
          </a:p>
        </p:txBody>
      </p:sp>
      <p:sp>
        <p:nvSpPr>
          <p:cNvPr id="9" name="dsl:invest-metric1"/>
          <p:cNvSpPr txBox="1"/>
          <p:nvPr/>
        </p:nvSpPr>
        <p:spPr>
          <a:xfrm>
            <a:off x="1047750" y="2286000"/>
            <a:ext cx="457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$520,000</a:t>
            </a:r>
          </a:p>
        </p:txBody>
      </p:sp>
      <p:sp>
        <p:nvSpPr>
          <p:cNvPr id="10" name="dsl:invest-metric1-label"/>
          <p:cNvSpPr txBox="1"/>
          <p:nvPr/>
        </p:nvSpPr>
        <p:spPr>
          <a:xfrm>
            <a:off x="1047750" y="2762250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Year 1 implementation (all 5 phases)</a:t>
            </a:r>
          </a:p>
        </p:txBody>
      </p:sp>
      <p:sp>
        <p:nvSpPr>
          <p:cNvPr id="11" name="dsl:invest-divider"/>
          <p:cNvSpPr/>
          <p:nvPr/>
        </p:nvSpPr>
        <p:spPr>
          <a:xfrm>
            <a:off x="1047750" y="3048000"/>
            <a:ext cx="4572000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sl:invest-metric2"/>
          <p:cNvSpPr txBox="1"/>
          <p:nvPr/>
        </p:nvSpPr>
        <p:spPr>
          <a:xfrm>
            <a:off x="1047750" y="3143250"/>
            <a:ext cx="4572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1A1A2E"/>
                </a:solidFill>
                <a:latin typeface="Arial"/>
                <a:ea typeface="Calibri"/>
              </a:rPr>
              <a:t>$</a:t>
            </a:r>
            <a:r>
              <a:rPr lang="en-US" sz="1500" b="1" noProof="1">
                <a:solidFill>
                  <a:srgbClr val="1A1A2E"/>
                </a:solidFill>
                <a:latin typeface="Arial"/>
                <a:ea typeface="Calibri"/>
              </a:rPr>
              <a:t>1</a:t>
            </a:r>
            <a:r>
              <a:rPr sz="1500" b="1" noProof="1">
                <a:solidFill>
                  <a:srgbClr val="1A1A2E"/>
                </a:solidFill>
                <a:latin typeface="Arial"/>
                <a:ea typeface="Calibri"/>
              </a:rPr>
              <a:t>84,000</a:t>
            </a:r>
            <a:r>
              <a:rPr sz="1500" noProof="1">
                <a:solidFill>
                  <a:srgbClr val="1A1A2E"/>
                </a:solidFill>
                <a:latin typeface="Arial"/>
                <a:ea typeface="Calibri"/>
              </a:rPr>
              <a:t> / year recurring</a:t>
            </a:r>
          </a:p>
        </p:txBody>
      </p:sp>
      <p:sp>
        <p:nvSpPr>
          <p:cNvPr id="13" name="dsl:invest-metric2-label"/>
          <p:cNvSpPr txBox="1"/>
          <p:nvPr/>
        </p:nvSpPr>
        <p:spPr>
          <a:xfrm>
            <a:off x="1047750" y="3476625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A5A6A"/>
                </a:solidFill>
                <a:latin typeface="Arial"/>
                <a:ea typeface="Calibri"/>
              </a:rPr>
              <a:t>Infrastructure + maintenance + support</a:t>
            </a:r>
          </a:p>
        </p:txBody>
      </p:sp>
      <p:sp>
        <p:nvSpPr>
          <p:cNvPr id="14" name="dsl:return-bg"/>
          <p:cNvSpPr/>
          <p:nvPr/>
        </p:nvSpPr>
        <p:spPr>
          <a:xfrm>
            <a:off x="6286500" y="1524000"/>
            <a:ext cx="5143500" cy="2286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dsl:return-icon|i=fas:money-bill-trend-up" descr="tmpxqfui43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8097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return-label"/>
          <p:cNvSpPr txBox="1"/>
          <p:nvPr/>
        </p:nvSpPr>
        <p:spPr>
          <a:xfrm>
            <a:off x="7143750" y="1809750"/>
            <a:ext cx="4000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E7D32"/>
                </a:solidFill>
                <a:latin typeface="Arial"/>
                <a:ea typeface="Calibri"/>
              </a:rPr>
              <a:t>Return</a:t>
            </a:r>
          </a:p>
        </p:txBody>
      </p:sp>
      <p:sp>
        <p:nvSpPr>
          <p:cNvPr id="17" name="dsl:return-metric1"/>
          <p:cNvSpPr txBox="1"/>
          <p:nvPr/>
        </p:nvSpPr>
        <p:spPr>
          <a:xfrm>
            <a:off x="6572250" y="2286000"/>
            <a:ext cx="457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b="1" noProof="1">
                <a:solidFill>
                  <a:srgbClr val="2E7D32"/>
                </a:solidFill>
                <a:latin typeface="Arial"/>
                <a:ea typeface="Calibri"/>
              </a:rPr>
              <a:t>$2.5M–$4M</a:t>
            </a:r>
          </a:p>
        </p:txBody>
      </p:sp>
      <p:sp>
        <p:nvSpPr>
          <p:cNvPr id="18" name="dsl:return-metric1-label"/>
          <p:cNvSpPr txBox="1"/>
          <p:nvPr/>
        </p:nvSpPr>
        <p:spPr>
          <a:xfrm>
            <a:off x="6572250" y="2762250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A5A6A"/>
                </a:solidFill>
                <a:latin typeface="Arial"/>
                <a:ea typeface="Calibri"/>
              </a:rPr>
              <a:t>5-year estimated value (conservative)</a:t>
            </a:r>
          </a:p>
        </p:txBody>
      </p:sp>
      <p:sp>
        <p:nvSpPr>
          <p:cNvPr id="19" name="dsl:return-divider"/>
          <p:cNvSpPr/>
          <p:nvPr/>
        </p:nvSpPr>
        <p:spPr>
          <a:xfrm>
            <a:off x="6572250" y="3048000"/>
            <a:ext cx="4572000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sl:return-metric2"/>
          <p:cNvSpPr txBox="1"/>
          <p:nvPr/>
        </p:nvSpPr>
        <p:spPr>
          <a:xfrm>
            <a:off x="6572250" y="3143250"/>
            <a:ext cx="4572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E7D32"/>
                </a:solidFill>
                <a:latin typeface="Arial"/>
                <a:ea typeface="Calibri"/>
              </a:rPr>
              <a:t>3.3x–5.3x</a:t>
            </a:r>
            <a:r>
              <a:rPr sz="1500" noProof="1">
                <a:solidFill>
                  <a:srgbClr val="2E7D32"/>
                </a:solidFill>
                <a:latin typeface="Arial"/>
                <a:ea typeface="Calibri"/>
              </a:rPr>
              <a:t> ROI</a:t>
            </a:r>
          </a:p>
        </p:txBody>
      </p:sp>
      <p:sp>
        <p:nvSpPr>
          <p:cNvPr id="21" name="dsl:return-metric2-label"/>
          <p:cNvSpPr txBox="1"/>
          <p:nvPr/>
        </p:nvSpPr>
        <p:spPr>
          <a:xfrm>
            <a:off x="6572250" y="3476625"/>
            <a:ext cx="4572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A5A6A"/>
                </a:solidFill>
                <a:latin typeface="Arial"/>
                <a:ea typeface="Calibri"/>
              </a:rPr>
              <a:t>Break-even: Month 8–14</a:t>
            </a:r>
          </a:p>
        </p:txBody>
      </p:sp>
      <p:graphicFrame>
        <p:nvGraphicFramePr>
          <p:cNvPr id="22" name="dsl:roi-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629349"/>
              </p:ext>
            </p:extLst>
          </p:nvPr>
        </p:nvGraphicFramePr>
        <p:xfrm>
          <a:off x="762000" y="4095750"/>
          <a:ext cx="10668000" cy="20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/>
            </a:gs>
            <a:gs pos="100000">
              <a:srgbClr val="2C5AA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accent-bar"/>
          <p:cNvSpPr/>
          <p:nvPr/>
        </p:nvSpPr>
        <p:spPr>
          <a:xfrm>
            <a:off x="762000" y="762000"/>
            <a:ext cx="38100" cy="762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title"/>
          <p:cNvSpPr txBox="1"/>
          <p:nvPr/>
        </p:nvSpPr>
        <p:spPr>
          <a:xfrm>
            <a:off x="952500" y="762000"/>
            <a:ext cx="8572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FFFFFF"/>
                </a:solidFill>
                <a:latin typeface="Arial"/>
                <a:ea typeface="Calibri"/>
              </a:rPr>
              <a:t>What Happens Next</a:t>
            </a:r>
          </a:p>
        </p:txBody>
      </p:sp>
      <p:sp>
        <p:nvSpPr>
          <p:cNvPr id="4" name="dsl:subtitle"/>
          <p:cNvSpPr txBox="1"/>
          <p:nvPr/>
        </p:nvSpPr>
        <p:spPr>
          <a:xfrm>
            <a:off x="952500" y="1428750"/>
            <a:ext cx="6667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E6F0FA"/>
                </a:solidFill>
                <a:latin typeface="Arial"/>
                <a:ea typeface="Calibri"/>
              </a:rPr>
              <a:t>From decision to first advisor alert in 9 months</a:t>
            </a:r>
          </a:p>
        </p:txBody>
      </p:sp>
      <p:sp>
        <p:nvSpPr>
          <p:cNvPr id="5" name="dsl:step1-bg"/>
          <p:cNvSpPr/>
          <p:nvPr/>
        </p:nvSpPr>
        <p:spPr>
          <a:xfrm>
            <a:off x="952500" y="2095500"/>
            <a:ext cx="32385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sl:step1-num"/>
          <p:cNvSpPr txBox="1"/>
          <p:nvPr/>
        </p:nvSpPr>
        <p:spPr>
          <a:xfrm>
            <a:off x="1143000" y="2238375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b="1" noProof="1">
                <a:solidFill>
                  <a:srgbClr val="4A90D9"/>
                </a:solidFill>
                <a:latin typeface="Arial"/>
                <a:ea typeface="Calibri"/>
              </a:rPr>
              <a:t>01</a:t>
            </a:r>
          </a:p>
        </p:txBody>
      </p:sp>
      <p:sp>
        <p:nvSpPr>
          <p:cNvPr id="7" name="dsl:step1-title"/>
          <p:cNvSpPr txBox="1"/>
          <p:nvPr/>
        </p:nvSpPr>
        <p:spPr>
          <a:xfrm>
            <a:off x="1143000" y="25717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FFFFFF"/>
                </a:solidFill>
                <a:latin typeface="Arial"/>
                <a:ea typeface="Calibri"/>
              </a:rPr>
              <a:t>Kickoff</a:t>
            </a:r>
          </a:p>
        </p:txBody>
      </p:sp>
      <p:sp>
        <p:nvSpPr>
          <p:cNvPr id="8" name="dsl:step1-body"/>
          <p:cNvSpPr txBox="1"/>
          <p:nvPr/>
        </p:nvSpPr>
        <p:spPr>
          <a:xfrm>
            <a:off x="1143000" y="2857500"/>
            <a:ext cx="285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A8C5E8"/>
                </a:solidFill>
                <a:latin typeface="Arial"/>
                <a:ea typeface="Calibri"/>
              </a:rPr>
              <a:t>Contract + Banner/Blackboard integration scope</a:t>
            </a:r>
          </a:p>
        </p:txBody>
      </p:sp>
      <p:sp>
        <p:nvSpPr>
          <p:cNvPr id="9" name="dsl:step2-bg"/>
          <p:cNvSpPr/>
          <p:nvPr/>
        </p:nvSpPr>
        <p:spPr>
          <a:xfrm>
            <a:off x="4476750" y="2095500"/>
            <a:ext cx="32385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sl:step2-num"/>
          <p:cNvSpPr txBox="1"/>
          <p:nvPr/>
        </p:nvSpPr>
        <p:spPr>
          <a:xfrm>
            <a:off x="4667250" y="2238375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b="1" noProof="1">
                <a:solidFill>
                  <a:srgbClr val="4A90D9"/>
                </a:solidFill>
                <a:latin typeface="Arial"/>
                <a:ea typeface="Calibri"/>
              </a:rPr>
              <a:t>02</a:t>
            </a:r>
          </a:p>
        </p:txBody>
      </p:sp>
      <p:sp>
        <p:nvSpPr>
          <p:cNvPr id="11" name="dsl:step2-title"/>
          <p:cNvSpPr txBox="1"/>
          <p:nvPr/>
        </p:nvSpPr>
        <p:spPr>
          <a:xfrm>
            <a:off x="4667250" y="25717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FFFFFF"/>
                </a:solidFill>
                <a:latin typeface="Arial"/>
                <a:ea typeface="Calibri"/>
              </a:rPr>
              <a:t>Faculty Pilot</a:t>
            </a:r>
          </a:p>
        </p:txBody>
      </p:sp>
      <p:sp>
        <p:nvSpPr>
          <p:cNvPr id="12" name="dsl:step2-body"/>
          <p:cNvSpPr txBox="1"/>
          <p:nvPr/>
        </p:nvSpPr>
        <p:spPr>
          <a:xfrm>
            <a:off x="4667250" y="2857500"/>
            <a:ext cx="285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A8C5E8"/>
                </a:solidFill>
                <a:latin typeface="Arial"/>
                <a:ea typeface="Calibri"/>
              </a:rPr>
              <a:t>Small group tests SSO + policy gates before full rollout</a:t>
            </a:r>
          </a:p>
        </p:txBody>
      </p:sp>
      <p:sp>
        <p:nvSpPr>
          <p:cNvPr id="13" name="dsl:step3-bg"/>
          <p:cNvSpPr/>
          <p:nvPr/>
        </p:nvSpPr>
        <p:spPr>
          <a:xfrm>
            <a:off x="8001000" y="2095500"/>
            <a:ext cx="32385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18823"/>
              </a:srgb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sl:step3-num"/>
          <p:cNvSpPr txBox="1"/>
          <p:nvPr/>
        </p:nvSpPr>
        <p:spPr>
          <a:xfrm>
            <a:off x="8191500" y="2238375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b="1" noProof="1">
                <a:solidFill>
                  <a:srgbClr val="4A90D9"/>
                </a:solidFill>
                <a:latin typeface="Arial"/>
                <a:ea typeface="Calibri"/>
              </a:rPr>
              <a:t>03</a:t>
            </a:r>
          </a:p>
        </p:txBody>
      </p:sp>
      <p:sp>
        <p:nvSpPr>
          <p:cNvPr id="15" name="dsl:step3-title"/>
          <p:cNvSpPr txBox="1"/>
          <p:nvPr/>
        </p:nvSpPr>
        <p:spPr>
          <a:xfrm>
            <a:off x="8191500" y="25717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FFFFFF"/>
                </a:solidFill>
                <a:latin typeface="Arial"/>
                <a:ea typeface="Calibri"/>
              </a:rPr>
              <a:t>Go-Live</a:t>
            </a:r>
          </a:p>
        </p:txBody>
      </p:sp>
      <p:sp>
        <p:nvSpPr>
          <p:cNvPr id="16" name="dsl:step3-body"/>
          <p:cNvSpPr txBox="1"/>
          <p:nvPr/>
        </p:nvSpPr>
        <p:spPr>
          <a:xfrm>
            <a:off x="8191500" y="2857500"/>
            <a:ext cx="285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A8C5E8"/>
                </a:solidFill>
                <a:latin typeface="Arial"/>
                <a:ea typeface="Calibri"/>
              </a:rPr>
              <a:t>Phase 1 live at Month 6; first advisor alerts at Month 9</a:t>
            </a:r>
          </a:p>
        </p:txBody>
      </p:sp>
      <p:sp>
        <p:nvSpPr>
          <p:cNvPr id="17" name="dsl:divider"/>
          <p:cNvSpPr/>
          <p:nvPr/>
        </p:nvSpPr>
        <p:spPr>
          <a:xfrm>
            <a:off x="952500" y="4095750"/>
            <a:ext cx="3810000" cy="19050"/>
          </a:xfrm>
          <a:prstGeom prst="rect">
            <a:avLst/>
          </a:prstGeom>
          <a:solidFill>
            <a:srgbClr val="4A90D9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sl:contact"/>
          <p:cNvSpPr txBox="1"/>
          <p:nvPr/>
        </p:nvSpPr>
        <p:spPr>
          <a:xfrm>
            <a:off x="952500" y="4286250"/>
            <a:ext cx="666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E6F0FA"/>
                </a:solidFill>
                <a:latin typeface="Arial"/>
                <a:ea typeface="Calibri"/>
              </a:rPr>
              <a:t>Questions? Contact: </a:t>
            </a:r>
            <a:r>
              <a:rPr sz="1200" b="1" noProof="1">
                <a:solidFill>
                  <a:srgbClr val="E6F0FA"/>
                </a:solidFill>
                <a:latin typeface="Arial"/>
                <a:ea typeface="Calibri"/>
              </a:rPr>
              <a:t>support@smeprotech.com</a:t>
            </a:r>
          </a:p>
        </p:txBody>
      </p:sp>
      <p:sp>
        <p:nvSpPr>
          <p:cNvPr id="19" name="dsl:sponsor"/>
          <p:cNvSpPr txBox="1"/>
          <p:nvPr/>
        </p:nvSpPr>
        <p:spPr>
          <a:xfrm>
            <a:off x="952500" y="6096000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8AADD0"/>
                </a:solidFill>
                <a:latin typeface="Arial"/>
                <a:ea typeface="Calibri"/>
              </a:rPr>
              <a:t>SMEPro Technologies | IOS+ Platform</a:t>
            </a:r>
          </a:p>
        </p:txBody>
      </p:sp>
      <p:sp>
        <p:nvSpPr>
          <p:cNvPr id="20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8AADD0"/>
                </a:solidFill>
                <a:latin typeface="Arial"/>
                <a:ea typeface="Calibri"/>
              </a:rPr>
              <a:t>16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age-title|s=$title"/>
          <p:cNvSpPr txBox="1"/>
          <p:nvPr/>
        </p:nvSpPr>
        <p:spPr>
          <a:xfrm>
            <a:off x="762000" y="285750"/>
            <a:ext cx="857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noProof="1">
                <a:solidFill>
                  <a:srgbClr val="1A1A2E"/>
                </a:solidFill>
                <a:latin typeface="Arial"/>
                <a:ea typeface="Calibri"/>
              </a:rPr>
              <a:t>EDU Reporter</a:t>
            </a:r>
          </a:p>
        </p:txBody>
      </p:sp>
      <p:sp>
        <p:nvSpPr>
          <p:cNvPr id="4" name="dsl:title-underline"/>
          <p:cNvSpPr/>
          <p:nvPr/>
        </p:nvSpPr>
        <p:spPr>
          <a:xfrm>
            <a:off x="762000" y="781050"/>
            <a:ext cx="762000" cy="3810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tagline"/>
          <p:cNvSpPr txBox="1"/>
          <p:nvPr/>
        </p:nvSpPr>
        <p:spPr>
          <a:xfrm>
            <a:off x="762000" y="95250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A5A6A"/>
                </a:solidFill>
                <a:latin typeface="Arial"/>
                <a:ea typeface="Calibri"/>
              </a:rPr>
              <a:t>The Reporting Surface. IOS+ is the engine underneath.</a:t>
            </a:r>
          </a:p>
        </p:txBody>
      </p:sp>
      <p:sp>
        <p:nvSpPr>
          <p:cNvPr id="6" name="dsl:left-block"/>
          <p:cNvSpPr/>
          <p:nvPr/>
        </p:nvSpPr>
        <p:spPr>
          <a:xfrm>
            <a:off x="762000" y="1524000"/>
            <a:ext cx="5905500" cy="457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left-label"/>
          <p:cNvSpPr txBox="1"/>
          <p:nvPr/>
        </p:nvSpPr>
        <p:spPr>
          <a:xfrm>
            <a:off x="1047750" y="1714500"/>
            <a:ext cx="5334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1A1A2E"/>
                </a:solidFill>
                <a:latin typeface="Arial"/>
                <a:ea typeface="Calibri"/>
              </a:rPr>
              <a:t>What Faculty &amp; Staff See</a:t>
            </a:r>
          </a:p>
        </p:txBody>
      </p:sp>
      <p:sp>
        <p:nvSpPr>
          <p:cNvPr id="8" name="dsl:left-content"/>
          <p:cNvSpPr txBox="1"/>
          <p:nvPr/>
        </p:nvSpPr>
        <p:spPr>
          <a:xfrm>
            <a:off x="1047750" y="209550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7 Dashboards — one for each use case: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Predictive Persistence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at-risk student alerts, advisor intervention queue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Transcript Evaluation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2-day turnaround, confidence bands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Accreditation Gap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readiness heat map, 414 files indexed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Course Alignment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CLO ↔ assessment drift detection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Grading Load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quantitative workload index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Allied Health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NCLEX threshold protection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Regulatory Watchtower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change detection with approval</a:t>
            </a:r>
          </a:p>
          <a:p>
            <a:pPr algn="l">
              <a:lnSpc>
                <a:spcPct val="160000"/>
              </a:lnSpc>
              <a:spcBef>
                <a:spcPts val="105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5 Monitored Filings: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IPEDS · CBM · NSLDS · FISAP · Clery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3 Operational Views: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Degree-plan-to-licensure · SAP monitoring · Enrollment verification</a:t>
            </a:r>
          </a:p>
        </p:txBody>
      </p:sp>
      <p:sp>
        <p:nvSpPr>
          <p:cNvPr id="9" name="dsl:right-block"/>
          <p:cNvSpPr/>
          <p:nvPr/>
        </p:nvSpPr>
        <p:spPr>
          <a:xfrm>
            <a:off x="6953250" y="1524000"/>
            <a:ext cx="4476750" cy="457200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2700">
            <a:solidFill>
              <a:srgbClr val="B3D9F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dsl:right-icon|i=fas:shield-halved" descr="tmpc96kv6z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80975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right-label"/>
          <p:cNvSpPr txBox="1"/>
          <p:nvPr/>
        </p:nvSpPr>
        <p:spPr>
          <a:xfrm>
            <a:off x="7810500" y="1809750"/>
            <a:ext cx="3333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5AA0"/>
                </a:solidFill>
                <a:latin typeface="Arial"/>
                <a:ea typeface="Calibri"/>
              </a:rPr>
              <a:t>Every Number Has Evidence</a:t>
            </a:r>
          </a:p>
        </p:txBody>
      </p:sp>
      <p:sp>
        <p:nvSpPr>
          <p:cNvPr id="12" name="dsl:right-content"/>
          <p:cNvSpPr txBox="1"/>
          <p:nvPr/>
        </p:nvSpPr>
        <p:spPr>
          <a:xfrm>
            <a:off x="7239000" y="2381250"/>
            <a:ext cx="3905250" cy="3524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Click any number, chart, or alert in EDU Reporter and you get: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Trace ID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unique request identifier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Source signals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raw data from Banner, Blackboard, or regulatory sources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Processing logic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algorithm version, formula, confidence score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Decision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Gate 530 allow/deny with reason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• </a:t>
            </a: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Signature</a:t>
            </a: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 — Ed25519-signed, JCS-canonicalized evidence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125" noProof="1">
                <a:solidFill>
                  <a:srgbClr val="5A5A6A"/>
                </a:solidFill>
                <a:latin typeface="Arial"/>
                <a:ea typeface="Calibri"/>
              </a:rPr>
              <a:t>If an auditor asks "why was this student flagged?" or "why was this course accepted?" — the answer is one click away.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125" b="1" noProof="1">
                <a:solidFill>
                  <a:srgbClr val="5A5A6A"/>
                </a:solidFill>
                <a:latin typeface="Arial"/>
                <a:ea typeface="Calibri"/>
              </a:rPr>
              <a:t>Not just reporting. Provable compliance.</a:t>
            </a:r>
          </a:p>
        </p:txBody>
      </p:sp>
      <p:sp>
        <p:nvSpPr>
          <p:cNvPr id="13" name="dsl:page-num"/>
          <p:cNvSpPr txBox="1"/>
          <p:nvPr/>
        </p:nvSpPr>
        <p:spPr>
          <a:xfrm>
            <a:off x="11239500" y="647700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750" noProof="1">
                <a:solidFill>
                  <a:srgbClr val="A0A0A0"/>
                </a:solidFill>
                <a:latin typeface="Arial"/>
                <a:ea typeface="Calibri"/>
              </a:rPr>
              <a:t>16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A1A2E"/>
    <Color name="secondary" value="#5A5A6A"/>
    <Color name="accent" value="#2C5AA0"/>
    <Color name="light" value="#E6F0FA"/>
    <Color name="background" value="#FFFFFF"/>
    <Color name="text" value="#1A1A2E"/>
    <Color name="textMuted" value="#5A5A6A"/>
    <Color name="success" value="#2E7D32"/>
    <Color name="warning" value="#E65100"/>
    <Color name="gold" value="#F9A825"/>
  </Colors>
  <TextStyles>
    <TextStyle name="title" font_size="36.0" color="#1A1A2E" font_family="Arial, Calibri" line_height="1.2"/>
    <TextStyle name="subtitle" font_size="20.0" color="#5A5A6A" font_family="Arial, Calibri" line_height="1.3"/>
    <TextStyle name="body" font_size="16.0" color="#1A1A2E" font_family="Arial, Calibri" line_height="1.5"/>
    <TextStyle name="small" font_size="12.0" color="#5A5A6A" font_family="Arial, Calibri" line_height="1.4"/>
    <TextStyle name="accent" font_size="16.0" color="#2C5AA0" font_family="Arial, Calibri" line_height="1.5"/>
  </TextStyles>
  <TableStyles>
    <TableStyle name="default" fontSize="14.0" fontFamily="Arial, Calibri" headerFill="#1A1A2E" headerColor="#FFFFFF" headerBold="true" bodyFill="#FFFFFF,#F5F5F5" bodyColor="#1A1A2E" firstColumnBold="false">
      <Border style="solid" width="1.0" color="#D0D0D0"/>
    </TableStyle>
  </TableStyles>
</DslMetadata>
</file>

<file path=customXml/itemProps1.xml><?xml version="1.0" encoding="utf-8"?>
<ds:datastoreItem xmlns:ds="http://schemas.openxmlformats.org/officeDocument/2006/customXml" ds:itemID="{4E3A30A8-CE6E-40F6-90FE-A0A39910460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2133</Words>
  <Application>Microsoft Office PowerPoint</Application>
  <PresentationFormat>Widescreen</PresentationFormat>
  <Paragraphs>318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Miguez</cp:lastModifiedBy>
  <cp:revision>2</cp:revision>
  <dcterms:created xsi:type="dcterms:W3CDTF">2013-01-27T09:14:16Z</dcterms:created>
  <dcterms:modified xsi:type="dcterms:W3CDTF">2026-06-21T21:42:42Z</dcterms:modified>
  <cp:category/>
</cp:coreProperties>
</file>